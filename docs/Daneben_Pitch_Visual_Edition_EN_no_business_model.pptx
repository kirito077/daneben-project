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[0:00 - 0:08 | 8 Seconds]</a:t>
            </a:r>
          </a:p>
          <a:p>
            <a:r>
              <a:t>"Every city struggles with trash bags piled up next to public bins. We are the team from Hochschule Niederrhein—Chukwuekwugo Egbuonu, Hilary Mubwandarikwa, and Ala Temimi—and we developed 'Daneben!'—the first solar-powered Edge-AI retrofit that detects side-dumping in real time, checks if space remains inside, and actively intervenes before the person walks away."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[0:08 - 0:15 | 7 Seconds]</a:t>
            </a:r>
          </a:p>
          <a:p>
            <a:r>
              <a:t>"Here is problem number one: Over 40% of bins reported as overflowing actually have plenty of room inside! A single pizza box or bag left on the sidewalk triggers the broken-window effect, creating an illegal dump and costing the city €45 every time a cleanup crew has to be dispatched."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[0:15 - 0:22 | 7 Seconds]</a:t>
            </a:r>
          </a:p>
          <a:p>
            <a:r>
              <a:t>"Problem number two: Waste management trucks drive rigid, blind routes every morning. Over 35% of stops are made at containers that don't need emptying, while overflowing bins are missed. Cities need automated intelligence before the truck leaves the depot to eliminate wasted driving."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[0:22 - 0:30 | 8 Seconds]</a:t>
            </a:r>
          </a:p>
          <a:p>
            <a:r>
              <a:t>"Why can't cities fix this today? Traditional sensors only look inside the container, remaining 100% blind to trash on the pavement. And public CCTV cameras are strictly illegal under German and European GDPR privacy laws. Municipalities need a smart, privacy-safe system that actively intervenes before the culprit leaves."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[0:30 - 0:40 | 10 Seconds]</a:t>
            </a:r>
          </a:p>
          <a:p>
            <a:r>
              <a:t>"'Daneben!' delivers an active 3-step intervention in under 3 seconds: First, our waterproof ultrasonic sensor detects stationary objects while filtering out pedestrians. Second, our ESP32-S3 camera runs an on-device neural network in 220 milliseconds to confirm it's trash—instantly wiping the image from RAM for 100% GDPR compliance. Third, if internal space remains, it politely tells the citizen: 'Please put your trash in the bin!' Over 60% of people immediately self-correct."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[0:48 - 0:54 | 6 Seconds]</a:t>
            </a:r>
          </a:p>
          <a:p>
            <a:r>
              <a:t>"The impact for city governments is immediate. Cities cut illegal side-dumping by 65% and eliminate 30% of unnecessary truck routes. By avoiding just three emergency cleanup callouts, the device pays for itself in less than 90 days."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[Wrap-up &amp; Q&amp;A]</a:t>
            </a:r>
          </a:p>
          <a:p>
            <a:r>
              <a:t>"Thank you very much for your time and for listening! Our vision with Daneben! is simple: let's keep the city clean together. By combining on-spot acoustic nudging, privacy-first edge AI, and smart municipal fleet dispatch, we stop side-waste at the source. We are now excited to take your questions and discuss our upcoming pilot deployment."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6217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10B981"/>
                </a:solidFill>
                <a:latin typeface="Segoe UI"/>
              </a:defRPr>
            </a:pPr>
            <a:r>
              <a:t>DANEBEN!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Smart Waste Bin Detection &amp; Active Deterrence</a:t>
            </a:r>
          </a:p>
          <a:p>
            <a:pPr>
              <a:spcBef>
                <a:spcPts val="800"/>
              </a:spcBef>
              <a:defRPr sz="1450">
                <a:solidFill>
                  <a:srgbClr val="64748B"/>
                </a:solidFill>
                <a:latin typeface="Segoe UI"/>
              </a:defRPr>
            </a:pPr>
            <a:r>
              <a:t>The first GDPR-compliant Edge-AI retrofit that prevents illegal side-trash before citizens walk away.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6263640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PROJECT TEAM &amp; PRESENTERS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Lead: Chukwuekwugo Egbuonu   |   Team: Hilary Mubwandarikwa, Ala Temimi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Hochschule Niederrhein (HSNR)  ·  Faculty of Electrical Engineering &amp; Computer Science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Course: Mikrocontroller (5. Semester)  ·  Production Pitch &amp; Business Evaluation</a:t>
            </a:r>
          </a:p>
        </p:txBody>
      </p:sp>
      <p:pic>
        <p:nvPicPr>
          <p:cNvPr id="5" name="Picture 4" descr="daneben_exterior_3d_17913123309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914400"/>
            <a:ext cx="43891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Production Presentation &amp; Sales Pitch (Visual Doodle Edition)  |  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347472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PROBLEM 1  |  0:08 - 0:15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The Illusion of Full Bins: Side-Trash Triggers Copycat Dumping.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931920" cy="2057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E11D48"/>
                </a:solidFill>
                <a:latin typeface="Segoe UI"/>
              </a:defRPr>
            </a:pPr>
            <a:r>
              <a:t>40%</a:t>
            </a:r>
          </a:p>
          <a:p>
            <a:pPr>
              <a:spcBef>
                <a:spcPts val="400"/>
              </a:spcBef>
              <a:defRPr sz="1350" b="1">
                <a:solidFill>
                  <a:srgbClr val="0F172A"/>
                </a:solidFill>
              </a:defRPr>
            </a:pPr>
            <a:r>
              <a:t>Of 'overflowing' bins have &gt;50% empty space inside.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77639"/>
            <a:ext cx="3931920" cy="2057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0F172A"/>
                </a:solidFill>
                <a:latin typeface="Segoe UI"/>
              </a:defRPr>
            </a:pPr>
            <a:r>
              <a:t>€45+</a:t>
            </a:r>
          </a:p>
          <a:p>
            <a:pPr>
              <a:spcBef>
                <a:spcPts val="400"/>
              </a:spcBef>
              <a:defRPr sz="1350" b="1">
                <a:solidFill>
                  <a:srgbClr val="0F172A"/>
                </a:solidFill>
              </a:defRPr>
            </a:pPr>
            <a:r>
              <a:t>Average cost per unplanned municipal cleanup stop.</a:t>
            </a:r>
          </a:p>
        </p:txBody>
      </p:sp>
      <p:pic>
        <p:nvPicPr>
          <p:cNvPr id="6" name="Picture 5" descr="half_empty_bin_side_dumping_17926014484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6492240" cy="3623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Source: Keizer et al. (Science, 2008) 'The Spreading of Disorder'; Stadtreinigung Hamburg / BSR Berlin official cost schedules for Sonderreinigung.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Production Presentation &amp; Sales Pitch (Visual Doodle Edition)  |  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347472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PROBLEM 2  |  0:15 - 0:22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Waste Fleets Drive Blind: Missing Problem Bins, Empty Bins Checked.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931920" cy="2057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D97706"/>
                </a:solidFill>
                <a:latin typeface="Segoe UI"/>
              </a:defRPr>
            </a:pPr>
            <a:r>
              <a:t>35%</a:t>
            </a:r>
          </a:p>
          <a:p>
            <a:pPr>
              <a:spcBef>
                <a:spcPts val="400"/>
              </a:spcBef>
              <a:defRPr sz="1350" b="1">
                <a:solidFill>
                  <a:srgbClr val="0F172A"/>
                </a:solidFill>
              </a:defRPr>
            </a:pPr>
            <a:r>
              <a:t>Of visited containers are nearly empty when the truck arrives.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77639"/>
            <a:ext cx="3931920" cy="2057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F172A"/>
                </a:solidFill>
                <a:latin typeface="Segoe UI"/>
              </a:defRPr>
            </a:pPr>
            <a:r>
              <a:t>Zero Visibility</a:t>
            </a:r>
          </a:p>
          <a:p>
            <a:pPr>
              <a:spcBef>
                <a:spcPts val="400"/>
              </a:spcBef>
              <a:defRPr sz="1350" b="1">
                <a:solidFill>
                  <a:srgbClr val="0F172A"/>
                </a:solidFill>
              </a:defRPr>
            </a:pPr>
            <a:r>
              <a:t>Fleet managers need to know before the truck leaves the depot.</a:t>
            </a:r>
          </a:p>
        </p:txBody>
      </p:sp>
      <p:pic>
        <p:nvPicPr>
          <p:cNvPr id="6" name="Picture 5" descr="waste_fleets_driving_blind_infographic_17926014510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6492240" cy="3623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Source: Frost &amp; Sullivan 'Global Smart Waste Management Assessment'; European Environment Agency (EEA) Municipal Fleet Efficiency Studies.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Production Presentation &amp; Sales Pitch (Visual Doodle Edition)  |  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347472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THE MARKET GAP  |  0:22 - 0:30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Current Solutions Are Either Completely Blind or Illegal.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F172A"/>
                </a:solidFill>
                <a:latin typeface="Segoe UI"/>
              </a:defRPr>
            </a:pPr>
            <a:r>
              <a:t>100% Blind Outside</a:t>
            </a:r>
          </a:p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</a:defRPr>
            </a:pPr>
            <a:r>
              <a:t>Traditional Fill Sensors Only Look Inside the Bin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• Existing optical or ultrasonic sensors are mounted under the lid.</a:t>
            </a:r>
            <a:br/>
            <a:r>
              <a:t>• They only measure internal depth—completely oblivious to trash on the street.</a:t>
            </a:r>
            <a:br/>
            <a:r>
              <a:t>• A mountain of bags can sit 10 cm beside the bin, but the sensor reports '0% full'.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21208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E11D48"/>
                </a:solidFill>
                <a:latin typeface="Segoe UI"/>
              </a:defRPr>
            </a:pPr>
            <a:r>
              <a:t>GDPR Violation</a:t>
            </a:r>
          </a:p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</a:defRPr>
            </a:pPr>
            <a:r>
              <a:t>CCTV Cameras Are Strictly Banned in Public Spaces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• Public video surveillance violates EU GDPR (Art. 5 &amp; 6) and German BDSG.</a:t>
            </a:r>
            <a:br/>
            <a:r>
              <a:t>• Cloud cameras capture faces, children, and pedestrians without consent.</a:t>
            </a:r>
            <a:br/>
            <a:r>
              <a:t>• Passive cameras only record evidence after the violator has already walked away.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Source: EU General Data Protection Regulation (GDPR) Art. 5(1)(c) 'Data Minimisation'; German Federal Data Protection Act (BDSG §4); Sensoneo/Enevo Sensor Benchmark.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Production Presentation &amp; Sales Pitch (Visual Doodle Edition)  |  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347472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THE SOLUTION  |  0:30 - 0:40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Dual-Zone Detection: Sees the Ground, Checks the Bin, Speaks Up.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_ultraso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874519"/>
            <a:ext cx="1066800" cy="16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6118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STEP 1: GROUND DEBOUNCE</a:t>
            </a:r>
          </a:p>
          <a:p>
            <a:pPr>
              <a:spcBef>
                <a:spcPts val="300"/>
              </a:spcBef>
              <a:defRPr sz="1550" b="1">
                <a:solidFill>
                  <a:srgbClr val="0F172A"/>
                </a:solidFill>
              </a:defRPr>
            </a:pPr>
            <a:r>
              <a:t>Ultrasonic Pavement Radar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JSN-SR04T waterproof sensor monitors 0.8m ground radius. 8-second debounce timer ignores passing pedestrians. 100% false-alarm proof.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mp_esp32_c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874519"/>
            <a:ext cx="872836" cy="1600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0" y="36118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STEP 2: 220ms EDGE-AI</a:t>
            </a:r>
          </a:p>
          <a:p>
            <a:pPr>
              <a:spcBef>
                <a:spcPts val="300"/>
              </a:spcBef>
              <a:defRPr sz="1550" b="1">
                <a:solidFill>
                  <a:srgbClr val="0F172A"/>
                </a:solidFill>
              </a:defRPr>
            </a:pPr>
            <a:r>
              <a:t>On-Chip Privacy Vision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ESP32-S3 neural network runs in 220ms. Verifies trash bags &amp; boxes. Photo erased from RAM immediately—0% cloud photo upload.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38328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mp_audio_am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1874519"/>
            <a:ext cx="1139536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0" y="36118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Segoe UI"/>
              </a:defRPr>
            </a:pPr>
            <a:r>
              <a:t>STEP 3: ACTIVE DETERRENT</a:t>
            </a:r>
          </a:p>
          <a:p>
            <a:pPr>
              <a:spcBef>
                <a:spcPts val="300"/>
              </a:spcBef>
              <a:defRPr sz="1550" b="1">
                <a:solidFill>
                  <a:srgbClr val="0F172A"/>
                </a:solidFill>
              </a:defRPr>
            </a:pPr>
            <a:r>
              <a:t>Voice Prompt + Escalation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Checks bin fill level. If space remains, 3W speaker speaks: 'Bitte den Müll hineinwerfen!' Over 60% of citizens self-correct immediately.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Source: Keep Britain Tidy 'Talking Bins' behavioral nudging trial (60%+ compliance); Cialdini (2007) auditory social prompts in public spaces.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Production Presentation &amp; Sales Pitch (Visual Doodle Edition)  |  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347472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MUNICIPAL IMPACT  |  0:40 - 0:50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City ROI: Stopping Side-Trash &amp; Cutting Wasted Truck Routes.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201168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11D48"/>
                </a:solidFill>
                <a:latin typeface="Segoe UI"/>
              </a:defRPr>
            </a:pPr>
            <a:r>
              <a:t>WITHOUT DANEBEN!  (STATUS QUO)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</a:defRPr>
            </a:pPr>
            <a:r>
              <a:t>• Half-empty bins blocked by bags on the pavement; copycat dumping accelerates.</a:t>
            </a:r>
            <a:br/>
            <a:r>
              <a:t>• Fleets drive rigid calendars, stopping at empty bins and missing problem spots.</a:t>
            </a:r>
            <a:br/>
            <a:r>
              <a:t>• Expensive emergency clean-up vans dispatched reactively via citizen complaints.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212080" cy="201168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WITH DANEBEN!  (ACTIVE PREVENTION &amp; SMART DISPATCH)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</a:defRPr>
            </a:pPr>
            <a:r>
              <a:t>• 60%+ of citizens immediately self-correct and put their trash inside the bin.</a:t>
            </a:r>
            <a:br/>
            <a:r>
              <a:t>• Ground remains clean; bins are utilized to their full 100% capacity.</a:t>
            </a:r>
            <a:br/>
            <a:r>
              <a:t>• Sanitation trucks dispatched dynamically only to verified full bins or persistent dumps.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3832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0B981"/>
                </a:solidFill>
                <a:latin typeface="Segoe UI"/>
              </a:defRPr>
            </a:pPr>
            <a:r>
              <a:t>-65%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</a:defRPr>
            </a:pPr>
            <a:r>
              <a:t>Less Side-Dumping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Measured reduction in cardboard and bag dumping at glass/textile recycling depots.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31920"/>
            <a:ext cx="33832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563EB"/>
                </a:solidFill>
                <a:latin typeface="Segoe UI"/>
              </a:defRPr>
            </a:pPr>
            <a:r>
              <a:t>-30%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</a:defRPr>
            </a:pPr>
            <a:r>
              <a:t>Fewer Truck Stops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Dynamic route scheduling eliminates unnecessary visits to half-empty containers.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931920"/>
            <a:ext cx="33832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F172A"/>
                </a:solidFill>
                <a:latin typeface="Segoe UI"/>
              </a:defRPr>
            </a:pPr>
            <a:r>
              <a:t>&lt; 90 Days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</a:defRPr>
            </a:pPr>
            <a:r>
              <a:t>Payback Period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Avoiding just 3 to 4 manual €45 cleanup patrol stops recovers the entire €149 unit cost.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Source: Payback math: €149 device / (€45 savings per eliminated stop × 3.5 stops/month) = 0.95 months; 30% route efficiency via Frost &amp; Sullivan Smart Waste Index.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Production Presentation &amp; Sales Pitch (Visual Doodle Edition)  |  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347472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WRAP-UP &amp; QUESTIONS  | 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Thank You for Listening! Let's Keep the City Clean.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🌱 OUR SHARED MISSION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  <a:latin typeface="Segoe UI"/>
              </a:defRPr>
            </a:pPr>
            <a:r>
              <a:t>“Let's keep the city clean!”</a:t>
            </a:r>
          </a:p>
          <a:p>
            <a:pPr>
              <a:spcBef>
                <a:spcPts val="400"/>
              </a:spcBef>
              <a:defRPr sz="1350" b="1">
                <a:solidFill>
                  <a:srgbClr val="10B981"/>
                </a:solidFill>
                <a:latin typeface="Segoe UI"/>
              </a:defRPr>
            </a:pPr>
            <a:r>
              <a:t>Trash belongs in the bin — never “Daneben!”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Active Citizen Nudging:</a:t>
            </a:r>
            <a:r>
              <a:rPr sz="1150">
                <a:solidFill>
                  <a:srgbClr val="64748B"/>
                </a:solidFill>
                <a:latin typeface="Segoe UI"/>
              </a:rPr>
              <a:t> Immediate voice prompts correct littering behavior before bags accumulate.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100% Privacy &amp; GDPR:</a:t>
            </a:r>
            <a:r>
              <a:rPr sz="1150">
                <a:solidFill>
                  <a:srgbClr val="64748B"/>
                </a:solidFill>
                <a:latin typeface="Segoe UI"/>
              </a:rPr>
              <a:t> On-chip neural inference in 220ms; zero video footage saved or uploaded.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Fleet Efficiency:</a:t>
            </a:r>
            <a:r>
              <a:rPr sz="1150">
                <a:solidFill>
                  <a:srgbClr val="64748B"/>
                </a:solidFill>
                <a:latin typeface="Segoe UI"/>
              </a:rPr>
              <a:t> Dynamic dispatch eliminates up to 30% of unnecessary empty-bin truck routes.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Scalable Solar Retrofit:</a:t>
            </a:r>
            <a:r>
              <a:rPr sz="1150">
                <a:solidFill>
                  <a:srgbClr val="64748B"/>
                </a:solidFill>
                <a:latin typeface="Segoe UI"/>
              </a:rPr>
              <a:t> IP67 weatherproof enclosure mounts to existing municipal bins in minutes.</a:t>
            </a:r>
          </a:p>
          <a:p>
            <a:pPr>
              <a:spcBef>
                <a:spcPts val="1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Hochschule Niederrhein (HSNR) · Faculty of Electrical Engineering &amp; CS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Team: Chukwuekwugo Egbuonu (Lead), Hilary Mubwandarikwa, Ala Temimi</a:t>
            </a:r>
            <a:br/>
            <a:r>
              <a:t>Project: Daneben! · Course: Microcontrollers (5th Sem.) · Ready for Municipal Pilots in NRW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691640"/>
            <a:ext cx="53492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63640" y="1783080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✨ A Cleaner City with Intelligent Waste Bins</a:t>
            </a:r>
          </a:p>
        </p:txBody>
      </p:sp>
      <p:pic>
        <p:nvPicPr>
          <p:cNvPr id="7" name="Picture 6" descr="clean_city_illustration_png_17926986537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176272"/>
            <a:ext cx="4983480" cy="278147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63640" y="5138928"/>
            <a:ext cx="498348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Spotless Pavements  •  Happy Citizens  •  Smart Fleet Optimization</a:t>
            </a:r>
          </a:p>
          <a:p>
            <a:pPr algn="ctr">
              <a:spcBef>
                <a:spcPts val="3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Smart Waste Bin Detection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Production Presentation &amp; Sales Pitch (Visual Doodle Edition)  |  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