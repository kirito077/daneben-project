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CEB0-15B5-41A7-AEE7-67558DD8EA94}" v="43" dt="2026-10-23T12:45:09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kwuekwugo EGBUONU" userId="50d8e3b8d2fbeff0" providerId="LiveId" clId="{269D1456-D8BA-41C7-879E-2A0B2FFF6BEE}"/>
    <pc:docChg chg="custSel modSld">
      <pc:chgData name="chukwuekwugo EGBUONU" userId="50d8e3b8d2fbeff0" providerId="LiveId" clId="{269D1456-D8BA-41C7-879E-2A0B2FFF6BEE}" dt="2026-10-23T12:45:09.553" v="65"/>
      <pc:docMkLst>
        <pc:docMk/>
      </pc:docMkLst>
      <pc:sldChg chg="addSp modSp mod modTransition modAnim">
        <pc:chgData name="chukwuekwugo EGBUONU" userId="50d8e3b8d2fbeff0" providerId="LiveId" clId="{269D1456-D8BA-41C7-879E-2A0B2FFF6BEE}" dt="2026-10-23T12:45:09.413" v="10"/>
        <pc:sldMkLst>
          <pc:docMk/>
          <pc:sldMk cId="0" sldId="256"/>
        </pc:sldMkLst>
        <pc:picChg chg="add mod">
          <ac:chgData name="chukwuekwugo EGBUONU" userId="50d8e3b8d2fbeff0" providerId="LiveId" clId="{269D1456-D8BA-41C7-879E-2A0B2FFF6BEE}" dt="2026-10-23T12:45:09.272" v="4"/>
          <ac:picMkLst>
            <pc:docMk/>
            <pc:sldMk cId="0" sldId="256"/>
            <ac:picMk id="7" creationId="{27269C15-4304-4C52-1D00-73390FCA7856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9.443" v="21"/>
        <pc:sldMkLst>
          <pc:docMk/>
          <pc:sldMk cId="0" sldId="257"/>
        </pc:sldMkLst>
        <pc:picChg chg="add mod">
          <ac:chgData name="chukwuekwugo EGBUONU" userId="50d8e3b8d2fbeff0" providerId="LiveId" clId="{269D1456-D8BA-41C7-879E-2A0B2FFF6BEE}" dt="2026-10-23T12:45:09.427" v="15"/>
          <ac:picMkLst>
            <pc:docMk/>
            <pc:sldMk cId="0" sldId="257"/>
            <ac:picMk id="16" creationId="{80F3D6DF-ED5E-0568-B913-D6E757D0737B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9.477" v="32"/>
        <pc:sldMkLst>
          <pc:docMk/>
          <pc:sldMk cId="0" sldId="258"/>
        </pc:sldMkLst>
        <pc:picChg chg="add mod">
          <ac:chgData name="chukwuekwugo EGBUONU" userId="50d8e3b8d2fbeff0" providerId="LiveId" clId="{269D1456-D8BA-41C7-879E-2A0B2FFF6BEE}" dt="2026-10-23T12:45:09.455" v="26"/>
          <ac:picMkLst>
            <pc:docMk/>
            <pc:sldMk cId="0" sldId="258"/>
            <ac:picMk id="15" creationId="{307E5FB9-A1D9-262B-BE16-E4D5FA77610D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9.503" v="43"/>
        <pc:sldMkLst>
          <pc:docMk/>
          <pc:sldMk cId="0" sldId="259"/>
        </pc:sldMkLst>
        <pc:picChg chg="add mod">
          <ac:chgData name="chukwuekwugo EGBUONU" userId="50d8e3b8d2fbeff0" providerId="LiveId" clId="{269D1456-D8BA-41C7-879E-2A0B2FFF6BEE}" dt="2026-10-23T12:45:09.488" v="37"/>
          <ac:picMkLst>
            <pc:docMk/>
            <pc:sldMk cId="0" sldId="259"/>
            <ac:picMk id="28" creationId="{95546277-C01D-F293-BC64-26432C4BE31B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9.527" v="54"/>
        <pc:sldMkLst>
          <pc:docMk/>
          <pc:sldMk cId="0" sldId="260"/>
        </pc:sldMkLst>
        <pc:picChg chg="add mod">
          <ac:chgData name="chukwuekwugo EGBUONU" userId="50d8e3b8d2fbeff0" providerId="LiveId" clId="{269D1456-D8BA-41C7-879E-2A0B2FFF6BEE}" dt="2026-10-23T12:45:09.513" v="48"/>
          <ac:picMkLst>
            <pc:docMk/>
            <pc:sldMk cId="0" sldId="260"/>
            <ac:picMk id="11" creationId="{135B9EA2-25F1-F00D-8D13-534CEE4BA0D6}"/>
          </ac:picMkLst>
        </pc:picChg>
      </pc:sldChg>
      <pc:sldChg chg="addSp modSp mod modTransition modAnim">
        <pc:chgData name="chukwuekwugo EGBUONU" userId="50d8e3b8d2fbeff0" providerId="LiveId" clId="{269D1456-D8BA-41C7-879E-2A0B2FFF6BEE}" dt="2026-10-23T12:45:09.553" v="65"/>
        <pc:sldMkLst>
          <pc:docMk/>
          <pc:sldMk cId="0" sldId="261"/>
        </pc:sldMkLst>
        <pc:picChg chg="add mod">
          <ac:chgData name="chukwuekwugo EGBUONU" userId="50d8e3b8d2fbeff0" providerId="LiveId" clId="{269D1456-D8BA-41C7-879E-2A0B2FFF6BEE}" dt="2026-10-23T12:45:09.539" v="59"/>
          <ac:picMkLst>
            <pc:docMk/>
            <pc:sldMk cId="0" sldId="261"/>
            <ac:picMk id="10" creationId="{2F1176E1-C11C-ADA6-2F8A-8E2A1E9C5FC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77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~10s]</a:t>
            </a:r>
          </a:p>
          <a:p>
            <a:r>
              <a:t>"Wir sind das HSNR-Team: Chukwuekwugo Egbuonu, Hilary Mubwandarikwa und Ala Temimi. Daneben! ist smarte Müllerkennung mit aktivem Bürger-Nudging."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~9s]</a:t>
            </a:r>
          </a:p>
          <a:p>
            <a:r>
              <a:t>"Das Problem: Über 40 Prozent der Behälter mit Beistellmüll sind halbleer, kosten aber teure Notreinigungen. Und Entsorger fahren blind leere Eimer 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~13s]</a:t>
            </a:r>
          </a:p>
          <a:p>
            <a:r>
              <a:t>"Die Lösung: Ultraschall erfasst Beistellmüll fehlalarmfrei. Der ESP32-S3 verifiziert ihn in 220 Millisekunden, DSGVO-konform. Ist Platz, fordert der Lautsprecher zum Einwerfen auf."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~8s]</a:t>
            </a:r>
          </a:p>
          <a:p>
            <a:r>
              <a:t>"Wetterfest nach IP67, autark durch ein 20-Grad-Solardach mit 35 Tagen Gangreserve und in zwei Minuten bohrfrei nachrüstbar."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~7s]</a:t>
            </a:r>
          </a:p>
          <a:p>
            <a:r>
              <a:t>"Das Resultat: 65 Prozent weniger Beistellmüll, 30 Prozent weniger Leerfahrten und amortisiert in unter 90 Tagen."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[Auto-Narration | Dauer: ~7s]</a:t>
            </a:r>
          </a:p>
          <a:p>
            <a:r>
              <a:t>"Halten wir unsere Stadt sauber: Müll gehört in den Eimer – niemals daneben! Vielen Dank für Ihre Aufmerksamkeit."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jp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Smarte Müllerkennung &amp; aktive Verhaltenslenkung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Das erste DSGVO-konforme Edge-AI Nachrüstsystem, das wilde Müllablagerungen verhindert, bevor Bürger weitergehen.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PROJEKTTEAM &amp; PRÄSENTATOREN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Projektleitung: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Fachbereich Elektrotechnik &amp; Informatik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Modul: Mikrocontroller (5. Semester)  ·  Produktions-Pitch &amp; Systemarchitektur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1 von 6</a:t>
            </a:r>
          </a:p>
        </p:txBody>
      </p:sp>
      <p:pic>
        <p:nvPicPr>
          <p:cNvPr id="7" name="slide_1_de">
            <a:hlinkClick r:id="" action="ppaction://media"/>
            <a:extLst>
              <a:ext uri="{FF2B5EF4-FFF2-40B4-BE49-F238E27FC236}">
                <a16:creationId xmlns:a16="http://schemas.microsoft.com/office/drawing/2014/main" id="{27269C15-4304-4C52-1D00-73390FCA78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DAS DOPPELTE PROBLEM  |  0:08 - 0:20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Wilde Müllberge &amp; blinde Entsorgungsrouten: Die kommunale Krise.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11D48"/>
                </a:solidFill>
                <a:latin typeface="Segoe UI"/>
              </a:defRPr>
            </a:pPr>
            <a:r>
              <a:t>PROBLEM 1: BEISTELLMÜLL &amp; NACHAHMUNG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Halbleere Eimer provozieren wilde Müllberge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Behälter innen zu &gt;50% leer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45€+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Kosten je ungeplantem Einsatz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Bürger nehmen fälschlicherweise an, ein Mülleimer sei voll, wenn ein sperriger Karton den Schacht blockiert. Das triggert den „Broken-Windows-Effekt“: Eine einzige abgestellte Tüte führt binnen Stunden zu einem wilden Müllberg.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Kommunen entsenden nach Bürgerbeschwerden zweiköpfige Reinigungsteams. Diese Notreinigungen kosten Städte wöchentlich tausende Euro an Personaleinsatz, Verschleiß und Diesel.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PROBLEM 2: STARRE &amp; BLINDE TOUREN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Müllwagen fahren nach Kalender statt Bedarf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09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35%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Eimer bei Leerung fast leer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5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0% Sicht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keine Live-Daten vor Tour-Start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Kommunale Entsorger fahren nach starren Wochenplänen. Fahrer halten an jedem einzelnen Behälter – unabhängig davon, ob er völlig leer oder überfüllt ist. Das verbrennt unnötigen Kraftstoff und Arbeitszeit.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Ohne automatisierte Telemetrie können Entsorger Touren nicht dynamisch anpassen. Behälter mit massiven Nebenablagerungen bleiben tagelang unbemerkt, während saubere Eimer sinnlos angefahren werden.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Keizer et al. (Science 2008) „The Spreading of Disorder“; Stadtreinigung Hamburg; Frost &amp; Sullivan Smart Waste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2 von 6</a:t>
            </a:r>
          </a:p>
        </p:txBody>
      </p:sp>
      <p:pic>
        <p:nvPicPr>
          <p:cNvPr id="16" name="slide_2_de">
            <a:hlinkClick r:id="" action="ppaction://media"/>
            <a:extLst>
              <a:ext uri="{FF2B5EF4-FFF2-40B4-BE49-F238E27FC236}">
                <a16:creationId xmlns:a16="http://schemas.microsoft.com/office/drawing/2014/main" id="{80F3D6DF-ED5E-0568-B913-D6E757D073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2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DIE LÖSUNG  |  0:20 - 0:35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Dual-Zonen-Erkennung: Prüft Pflaster, misst Füllstand, spricht Bürger 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SCHRITT 1: BODEN-RADAR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Ultraschall-Pflastererfassung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Wasserdichter JSN-SR04T Sensor überwacht 0,8m Bodenradius. 8s-Entprellung filtert vorbeilaufende Fußgänger zuverlässig aus. 100% fehlalarmfrei.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SCHRITT 2: 220ms EDGE-KI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DSGVO-konforme On-Chip-Vision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neuronales Netz klassifiziert in 220ms Müllbeutel &amp; Kartons. Bild wird sofort im RAM überschrieben (memset 0x00) – 0% Cloud-Upload.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SCHRITT 3: AKTIVES NUDGING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Sprachansprache &amp; Meldung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Prüft Innenfüllstand. Ist noch Platz, bittet der 3W-Lautsprecher: „Bitte den Müll hineinwerfen!“ Über 60% der Bürger korrigieren sich sofort.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Keep Britain Tidy „Talking Bins“-Verhaltensstudie (60%+ Regeleinhaltung); Cialdini (2007) Auditive Nudging-Hinweise im öffentlichen Raum.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3 von 6</a:t>
            </a:r>
          </a:p>
        </p:txBody>
      </p:sp>
      <p:pic>
        <p:nvPicPr>
          <p:cNvPr id="15" name="slide_3_de">
            <a:hlinkClick r:id="" action="ppaction://media"/>
            <a:extLst>
              <a:ext uri="{FF2B5EF4-FFF2-40B4-BE49-F238E27FC236}">
                <a16:creationId xmlns:a16="http://schemas.microsoft.com/office/drawing/2014/main" id="{307E5FB9-A1D9-262B-BE16-E4D5FA7761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PRODUKTIONSHARDWARE  |  0:35 - 0:45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Wetterfeste IP67-Architektur &amp; dauerhafte Solar-Autonomie.</a:t>
            </a:r>
          </a:p>
        </p:txBody>
      </p:sp>
      <p:pic>
        <p:nvPicPr>
          <p:cNvPr id="4" name="Picture 3" descr="daneben_iot_exploded_assembly_render_17925997698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430" y="1572768"/>
            <a:ext cx="6217920" cy="4642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60020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1,5W Solardach (20°-Winkel)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Selbstreinigender Schrägdeckel mit CN3791 MPPT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988820"/>
            <a:ext cx="2904134" cy="62019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729630" y="255415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Silikon-Dichtungsring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Umlaufende IP67-Wetterdichtung für Außeneinsätze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86100"/>
            <a:ext cx="2308250" cy="48145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33746" y="3512689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XIAO ESP32-S3 Sense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Dual-Core 240MHz, 8MB PSRAM für Edge-KI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3956147"/>
            <a:ext cx="2696870" cy="2272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2366" y="3901283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18650 Li-Ion Akku (3400mAh)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Gekapselte Schraubhülse; 35 Tage Gangreserve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80360" y="4992399"/>
            <a:ext cx="2645053" cy="2882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70549" y="493753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2860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OV2640 Kameralinse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45°-Neigung nach unten (0,8m Pflaster, DSGVO-sicher)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7545" y="2569464"/>
            <a:ext cx="2553615" cy="1568027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72681" y="4082627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356616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Ultraschall-Sensoröffnung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Präzise Rundöffnung für JSN-SR04T Sensor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31710" y="3968496"/>
            <a:ext cx="2149450" cy="97209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76846" y="488572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81160" y="480060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Akustik-Lautsprechergitter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3W Sprachausgabe mit Gore-Tex Membran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65366" y="5202936"/>
            <a:ext cx="2615794" cy="226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0502" y="51706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Stückliste (BOM) &amp; Bauteil-Qualifikation über BerryBase/Mouser Datenblätter; IP67-Dichtigkeitsprüfverfahren.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4 von 6</a:t>
            </a:r>
          </a:p>
        </p:txBody>
      </p:sp>
      <p:pic>
        <p:nvPicPr>
          <p:cNvPr id="28" name="slide_4_de">
            <a:hlinkClick r:id="" action="ppaction://media"/>
            <a:extLst>
              <a:ext uri="{FF2B5EF4-FFF2-40B4-BE49-F238E27FC236}">
                <a16:creationId xmlns:a16="http://schemas.microsoft.com/office/drawing/2014/main" id="{95546277-C01D-F293-BC64-26432C4BE3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36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KOMMUNALER NUTZEN  |  0:45 - 0:55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Städtischer ROI: Müllberge stoppen &amp; unnötige Touren streichen.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OHNE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Halbleere Mülleimer durch Beistellungen blockiert; Nachahmungseffekt beschleunigt.</a:t>
            </a:r>
            <a:br/>
            <a:r>
              <a:t>• Entsorger fahren starre Pläne, halten an leeren Eimern und übersehen Müllbrennpunkte.</a:t>
            </a:r>
            <a:br/>
            <a:r>
              <a:t>• Teure Sonderreinigungs-Transporter rücken erst nach Bürgerbeschwerden reaktiv 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MIT DANEBEN!  (PRÄVENTION &amp; SMARTE ROUTEN)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&gt;60% der Bürger lenken sofort ein und werfen den Müll korrekt in den Behälter.</a:t>
            </a:r>
            <a:br/>
            <a:r>
              <a:t>• Gehwege bleiben sauber; Mülleimer werden bis zu 100% Volumen ausgenutzt.</a:t>
            </a:r>
            <a:br/>
            <a:r>
              <a:t>• Müllwagen werden dynamisch nur zu vollen Eimern oder echten Müllablagerungen gelenkt.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Nebenabfälle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Gemessene Reduktion wilder Ablagerungen an Glas- und Altkleider-Sammelstellen.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Leerfahrten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Dynamische Tourenplanung eliminiert unnötige Anfahrten halbleerer Behälter.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Tage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Amortisationszeit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Bereits 3 bis 4 vermiedene Sonderreinigungen à 45€ decken die 149€ Gerätekosten 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Amortisationsrechnung: 149€ Gerätekosten / (45€ Ersparnis je vermiedenem Sondereinsatz × 3,5 Einsätze/Monat) = 0,95 Monate; 30% Flotteneffizienz nach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5 von 6</a:t>
            </a:r>
          </a:p>
        </p:txBody>
      </p:sp>
      <p:pic>
        <p:nvPicPr>
          <p:cNvPr id="11" name="slide_5_de">
            <a:hlinkClick r:id="" action="ppaction://media"/>
            <a:extLst>
              <a:ext uri="{FF2B5EF4-FFF2-40B4-BE49-F238E27FC236}">
                <a16:creationId xmlns:a16="http://schemas.microsoft.com/office/drawing/2014/main" id="{135B9EA2-25F1-F00D-8D13-534CEE4BA0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2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VIELEN DANK &amp; FRAGEN  |  0:55 - 1:00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Vielen Dank für Ihre Aufmerksamkeit! Halten wir unsere Stadt sauber.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UNSERE GEMEINSAME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„Halten wir unsere Stadt sauber!“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Müll gehört in den Eimer – niemals „Daneben!“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Aktives Bürger-Nudging:</a:t>
            </a:r>
            <a:r>
              <a:rPr sz="1150">
                <a:solidFill>
                  <a:srgbClr val="64748B"/>
                </a:solidFill>
                <a:latin typeface="Segoe UI"/>
              </a:rPr>
              <a:t> Akustischer Sprachhinweis motiviert direkt vor Ort, bevor Beistellmüll entsteht.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DSGVO-konform:</a:t>
            </a:r>
            <a:r>
              <a:rPr sz="1150">
                <a:solidFill>
                  <a:srgbClr val="64748B"/>
                </a:solidFill>
                <a:latin typeface="Segoe UI"/>
              </a:rPr>
              <a:t> Reine lokale Edge-KI-Erkennung, keine Personenüberwachung im öffentlichen Raum.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Smarte Flottenlogistik:</a:t>
            </a:r>
            <a:r>
              <a:rPr sz="1150">
                <a:solidFill>
                  <a:srgbClr val="64748B"/>
                </a:solidFill>
                <a:latin typeface="Segoe UI"/>
              </a:rPr>
              <a:t> Bis zu 30% weniger Leerfahrten durch vorausschauende Füllstandstelemetrie.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Autark &amp; Nachrüstbar:</a:t>
            </a:r>
            <a:r>
              <a:rPr sz="1150">
                <a:solidFill>
                  <a:srgbClr val="64748B"/>
                </a:solidFill>
                <a:latin typeface="Segoe UI"/>
              </a:rPr>
              <a:t> Wartungsfreier Solarbetrieb (IP67) für bestehende kommunale Abfallbehälter.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FB 03 Elektrotechnik &amp; Informatik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Projekt: Daneben! · Modul: Mikrocontroller (5. Sem.) · Bereit für Kommunal-Piloten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Eine saubere Stadt durch intelligente Abfallbehälter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Saubere Gehwege  •  Zufriedene Bürger  •  Effiziente Stadtreinigung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Intelligente Müllerkennung &amp; Bürger-Nudging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6 von 6</a:t>
            </a:r>
          </a:p>
        </p:txBody>
      </p:sp>
      <p:pic>
        <p:nvPicPr>
          <p:cNvPr id="10" name="slide_6_de">
            <a:hlinkClick r:id="" action="ppaction://media"/>
            <a:extLst>
              <a:ext uri="{FF2B5EF4-FFF2-40B4-BE49-F238E27FC236}">
                <a16:creationId xmlns:a16="http://schemas.microsoft.com/office/drawing/2014/main" id="{2F1176E1-C11C-ADA6-2F8A-8E2A1E9C5F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127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1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Breitbild</PresentationFormat>
  <Paragraphs>103</Paragraphs>
  <Slides>6</Slides>
  <Notes>6</Notes>
  <HiddenSlides>0</HiddenSlides>
  <MMClips>6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chukwuekwugo EGBUONU</cp:lastModifiedBy>
  <cp:revision>1</cp:revision>
  <dcterms:created xsi:type="dcterms:W3CDTF">2013-01-27T09:14:16Z</dcterms:created>
  <dcterms:modified xsi:type="dcterms:W3CDTF">2026-10-23T12:45:09Z</dcterms:modified>
  <cp:category/>
</cp:coreProperties>
</file>