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Seconds]</a:t>
            </a:r>
          </a:p>
          <a:p>
            <a:r>
              <a:t>"Every city struggles with trash bags piled up next to public bins. We are the team from Hochschule Niederrhein—Chukwuekwugo Egbuonu, Hilary Mubwandarikwa, and Ala Temimi—and we developed 'Daneben!'—the first solar-powered Edge-AI retrofit that detects side-dumping in real time, checks if space remains inside, and actively intervenes before the person walks away."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[0:08 - 0:20 | 12 Seconds]</a:t>
            </a:r>
          </a:p>
          <a:p>
            <a:r>
              <a:t>"Here is the dual problem facing city municipalities: First, over 40% of bins reported as overflowing actually have plenty of room inside—yet a single dropped bag triggers the broken-windows effect and costs €45 every time an emergency cleaning van is dispatched. Second, sanitation trucks drive rigid, blind routes every morning: over 35% of stops are at nearly empty bins, while overflowing problem sites remain unserviced."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[0:20 - 0:35 | 15 Seconds]</a:t>
            </a:r>
          </a:p>
          <a:p>
            <a:r>
              <a:t>"'Daneben!' delivers an active 3-step intervention in under 3 seconds: First, our waterproof ultrasonic sensor detects stationary objects while filtering out pedestrians with an 8-second debounce timer. Second, our ESP32-S3 camera runs an on-device neural network in 220 milliseconds to confirm it's trash—instantly wiping the image from RAM for 100% GDPR compliance. Third, if internal space remains, it politely tells the citizen: 'Please put your trash in the bin!' Over 60% of people immediately self-correct."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[0:35 - 0:45 | 10 Seconds]</a:t>
            </a:r>
          </a:p>
          <a:p>
            <a:r>
              <a:t>"The hardware is engineered for over 5 years of maintenance-free year-round operation. A single 18650 Li-Ion cell provides 35 days of dark runtime reserve, while the 20-degree sloped 1.5W solar roof guarantees perpetual autonomy. Encased in an impact-resistant IP67 polycarbonate enclosure, the system retrofits onto existing municipal bins in under two minutes without drilling."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[0:45 - 0:55 | 10 Seconds]</a:t>
            </a:r>
          </a:p>
          <a:p>
            <a:r>
              <a:t>"The municipal ROI is immediate and measurable: cities reduce illegal side-dumping by 65% and eliminate up to 30% of unnecessary truck visits. By avoiding just 3 to 4 emergency €45 cleanup patrol stops, the device completely pays for itself in less than 90 days."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[0:55 - 1:00 | 5 Seconds + Q&amp;A]</a:t>
            </a:r>
          </a:p>
          <a:p>
            <a:r>
              <a:t>"Thank you very much for listening! Our shared vision with 'Daneben!' is simple: Let's keep the city clean together! Trash belongs in the bin, never 'Daneben!' Our team at Hochschule Niederrhein—Chukwuekwugo Egbuonu, Hilary Mubwandarikwa, and Ala Temimi—is excited to answer your questions and discuss our municipal pilot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 Waste Bin Detection &amp; Active Deterrence</a:t>
            </a:r>
          </a:p>
          <a:p>
            <a:pPr>
              <a:spcBef>
                <a:spcPts val="800"/>
              </a:spcBef>
              <a:defRPr sz="1450">
                <a:solidFill>
                  <a:srgbClr val="64748B"/>
                </a:solidFill>
                <a:latin typeface="Segoe UI"/>
              </a:defRPr>
            </a:pPr>
            <a:r>
              <a:t>The first GDPR-compliant Edge-AI retrofit that prevents illegal side-trash before citizens walk away.</a:t>
            </a:r>
          </a:p>
        </p:txBody>
      </p:sp>
      <p:sp>
        <p:nvSpPr>
          <p:cNvPr id="4" name="Rounded Rectangle 3"/>
          <p:cNvSpPr/>
          <p:nvPr/>
        </p:nvSpPr>
        <p:spPr>
          <a:xfrm>
            <a:off x="731520" y="4114800"/>
            <a:ext cx="62636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PROJECT TEAM &amp; PRESENTERS</a:t>
            </a:r>
          </a:p>
          <a:p>
            <a:pPr>
              <a:spcBef>
                <a:spcPts val="400"/>
              </a:spcBef>
              <a:defRPr sz="1200" b="1">
                <a:solidFill>
                  <a:srgbClr val="0F172A"/>
                </a:solidFill>
                <a:latin typeface="Segoe UI"/>
              </a:defRPr>
            </a:pPr>
            <a:r>
              <a:t>Lead: Chukwuekwugo Egbuonu   |   Team: Hilary Mubwandarikwa, Ala Temimi</a:t>
            </a:r>
          </a:p>
          <a:p>
            <a:pPr>
              <a:spcBef>
                <a:spcPts val="400"/>
              </a:spcBef>
              <a:defRPr sz="1150">
                <a:solidFill>
                  <a:srgbClr val="64748B"/>
                </a:solidFill>
                <a:latin typeface="Segoe UI"/>
              </a:defRPr>
            </a:pPr>
            <a:r>
              <a:t>Hochschule Niederrhein (HSNR)  ·  Faculty of Electrical Engineering &amp; Computer Science</a:t>
            </a:r>
          </a:p>
          <a:p>
            <a:pPr>
              <a:defRPr sz="1100">
                <a:solidFill>
                  <a:srgbClr val="64748B"/>
                </a:solidFill>
                <a:latin typeface="Segoe UI"/>
              </a:defRPr>
            </a:pPr>
            <a:r>
              <a:t>Course: Microcontrollers (5th Semester)  ·  Production Pitch &amp; System Architecture</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(Standard Edition)  |  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E11D48"/>
                </a:solidFill>
                <a:latin typeface="Segoe UI"/>
              </a:defRPr>
            </a:pPr>
            <a:r>
              <a:t>THE DUAL PROBLEM  |  0:08 - 0:20</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Side-Dumping &amp; Blind Routes: The Dual Municipal Waste Crisis.</a:t>
            </a:r>
          </a:p>
        </p:txBody>
      </p:sp>
      <p:sp>
        <p:nvSpPr>
          <p:cNvPr id="4" name="Rounded Rectangle 3"/>
          <p:cNvSpPr/>
          <p:nvPr/>
        </p:nvSpPr>
        <p:spPr>
          <a:xfrm>
            <a:off x="731520" y="1664208"/>
            <a:ext cx="5212080" cy="4462272"/>
          </a:xfrm>
          <a:prstGeom prst="roundRect">
            <a:avLst/>
          </a:prstGeom>
          <a:solidFill>
            <a:srgbClr val="F8FAFC"/>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55648"/>
            <a:ext cx="4846320" cy="621792"/>
          </a:xfrm>
          <a:prstGeom prst="rect">
            <a:avLst/>
          </a:prstGeom>
          <a:noFill/>
        </p:spPr>
        <p:txBody>
          <a:bodyPr wrap="square" lIns="0" tIns="0" rIns="0" bIns="0">
            <a:spAutoFit/>
          </a:bodyPr>
          <a:lstStyle/>
          <a:p>
            <a:pPr>
              <a:defRPr sz="1050" b="1">
                <a:solidFill>
                  <a:srgbClr val="E11D48"/>
                </a:solidFill>
                <a:latin typeface="Segoe UI"/>
              </a:defRPr>
            </a:pPr>
            <a:r>
              <a:t>PROBLEM 1: SIDE-TRASH &amp; COPYCAT DUMPING</a:t>
            </a:r>
          </a:p>
          <a:p>
            <a:pPr>
              <a:spcBef>
                <a:spcPts val="200"/>
              </a:spcBef>
              <a:defRPr sz="1300" b="1">
                <a:solidFill>
                  <a:srgbClr val="0F172A"/>
                </a:solidFill>
                <a:latin typeface="Segoe UI"/>
              </a:defRPr>
            </a:pPr>
            <a:r>
              <a:t>The Illusion of Full Bins: Side-Trash Multiplies</a:t>
            </a:r>
          </a:p>
        </p:txBody>
      </p:sp>
      <p:sp>
        <p:nvSpPr>
          <p:cNvPr id="6" name="Rounded Rectangle 5"/>
          <p:cNvSpPr/>
          <p:nvPr/>
        </p:nvSpPr>
        <p:spPr>
          <a:xfrm>
            <a:off x="914400"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E11D48"/>
                </a:solidFill>
                <a:latin typeface="Segoe UI"/>
              </a:defRPr>
            </a:pPr>
            <a:r>
              <a:t>40%</a:t>
            </a:r>
          </a:p>
          <a:p>
            <a:pPr>
              <a:defRPr sz="900">
                <a:solidFill>
                  <a:srgbClr val="64748B"/>
                </a:solidFill>
                <a:latin typeface="Segoe UI"/>
              </a:defRPr>
            </a:pPr>
            <a:r>
              <a:t>of 'full' bins have &gt;50% space inside</a:t>
            </a:r>
          </a:p>
        </p:txBody>
      </p:sp>
      <p:sp>
        <p:nvSpPr>
          <p:cNvPr id="7" name="Rounded Rectangle 6"/>
          <p:cNvSpPr/>
          <p:nvPr/>
        </p:nvSpPr>
        <p:spPr>
          <a:xfrm>
            <a:off x="3429000"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F172A"/>
                </a:solidFill>
                <a:latin typeface="Segoe UI"/>
              </a:defRPr>
            </a:pPr>
            <a:r>
              <a:t>€45+</a:t>
            </a:r>
          </a:p>
          <a:p>
            <a:pPr>
              <a:defRPr sz="900">
                <a:solidFill>
                  <a:srgbClr val="64748B"/>
                </a:solidFill>
                <a:latin typeface="Segoe UI"/>
              </a:defRPr>
            </a:pPr>
            <a:r>
              <a:t>cost per manual cleanup stop</a:t>
            </a:r>
          </a:p>
        </p:txBody>
      </p:sp>
      <p:sp>
        <p:nvSpPr>
          <p:cNvPr id="8" name="TextBox 7"/>
          <p:cNvSpPr txBox="1"/>
          <p:nvPr/>
        </p:nvSpPr>
        <p:spPr>
          <a:xfrm>
            <a:off x="914400" y="3429000"/>
            <a:ext cx="4846320" cy="2560320"/>
          </a:xfrm>
          <a:prstGeom prst="rect">
            <a:avLst/>
          </a:prstGeom>
          <a:noFill/>
        </p:spPr>
        <p:txBody>
          <a:bodyPr wrap="square">
            <a:spAutoFit/>
          </a:bodyPr>
          <a:lstStyle/>
          <a:p>
            <a:pPr>
              <a:defRPr sz="1150">
                <a:solidFill>
                  <a:srgbClr val="0F172A"/>
                </a:solidFill>
                <a:latin typeface="Segoe UI"/>
              </a:defRPr>
            </a:pPr>
            <a:r>
              <a:t>Citizens falsely assume a bin is full when cardboard blocks the opening. This triggers the 'Broken Windows' effect: one dropped bag on the sidewalk multiplies into a pile of copycat trash within hours.</a:t>
            </a:r>
          </a:p>
          <a:p>
            <a:pPr>
              <a:spcBef>
                <a:spcPts val="800"/>
              </a:spcBef>
              <a:defRPr sz="1150">
                <a:solidFill>
                  <a:srgbClr val="64748B"/>
                </a:solidFill>
                <a:latin typeface="Segoe UI"/>
              </a:defRPr>
            </a:pPr>
            <a:r>
              <a:t>Cities dispatch dedicated two-person cleaning vans to remove illegal side-waste after citizen complaints. Unplanned emergency stops cost thousands of euros each week in labor, vehicle wear, and wasted diesel.</a:t>
            </a:r>
          </a:p>
        </p:txBody>
      </p:sp>
      <p:sp>
        <p:nvSpPr>
          <p:cNvPr id="9" name="Rounded Rectangle 8"/>
          <p:cNvSpPr/>
          <p:nvPr/>
        </p:nvSpPr>
        <p:spPr>
          <a:xfrm>
            <a:off x="6248095" y="1664208"/>
            <a:ext cx="5212080" cy="4462272"/>
          </a:xfrm>
          <a:prstGeom prst="roundRect">
            <a:avLst/>
          </a:prstGeom>
          <a:solidFill>
            <a:srgbClr val="F8FAFC"/>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755648"/>
            <a:ext cx="4846320" cy="621792"/>
          </a:xfrm>
          <a:prstGeom prst="rect">
            <a:avLst/>
          </a:prstGeom>
          <a:noFill/>
        </p:spPr>
        <p:txBody>
          <a:bodyPr wrap="square" lIns="0" tIns="0" rIns="0" bIns="0">
            <a:spAutoFit/>
          </a:bodyPr>
          <a:lstStyle/>
          <a:p>
            <a:pPr>
              <a:defRPr sz="1050" b="1">
                <a:solidFill>
                  <a:srgbClr val="2563EB"/>
                </a:solidFill>
                <a:latin typeface="Segoe UI"/>
              </a:defRPr>
            </a:pPr>
            <a:r>
              <a:t>PROBLEM 2: RIGID &amp; BLIND FLEET ROUTES</a:t>
            </a:r>
          </a:p>
          <a:p>
            <a:pPr>
              <a:spcBef>
                <a:spcPts val="200"/>
              </a:spcBef>
              <a:defRPr sz="1300" b="1">
                <a:solidFill>
                  <a:srgbClr val="0F172A"/>
                </a:solidFill>
                <a:latin typeface="Segoe UI"/>
              </a:defRPr>
            </a:pPr>
            <a:r>
              <a:t>Waste Trucks Drive Blindly by Static Calendars</a:t>
            </a:r>
          </a:p>
        </p:txBody>
      </p:sp>
      <p:sp>
        <p:nvSpPr>
          <p:cNvPr id="11" name="Rounded Rectangle 10"/>
          <p:cNvSpPr/>
          <p:nvPr/>
        </p:nvSpPr>
        <p:spPr>
          <a:xfrm>
            <a:off x="6430975"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563EB"/>
                </a:solidFill>
                <a:latin typeface="Segoe UI"/>
              </a:defRPr>
            </a:pPr>
            <a:r>
              <a:t>35%</a:t>
            </a:r>
          </a:p>
          <a:p>
            <a:pPr>
              <a:defRPr sz="900">
                <a:solidFill>
                  <a:srgbClr val="64748B"/>
                </a:solidFill>
                <a:latin typeface="Segoe UI"/>
              </a:defRPr>
            </a:pPr>
            <a:r>
              <a:t>of visited containers nearly empty</a:t>
            </a:r>
          </a:p>
        </p:txBody>
      </p:sp>
      <p:sp>
        <p:nvSpPr>
          <p:cNvPr id="12" name="Rounded Rectangle 11"/>
          <p:cNvSpPr/>
          <p:nvPr/>
        </p:nvSpPr>
        <p:spPr>
          <a:xfrm>
            <a:off x="8945575"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F172A"/>
                </a:solidFill>
                <a:latin typeface="Segoe UI"/>
              </a:defRPr>
            </a:pPr>
            <a:r>
              <a:t>Zero Visibility</a:t>
            </a:r>
          </a:p>
          <a:p>
            <a:pPr>
              <a:defRPr sz="900">
                <a:solidFill>
                  <a:srgbClr val="64748B"/>
                </a:solidFill>
                <a:latin typeface="Segoe UI"/>
              </a:defRPr>
            </a:pPr>
            <a:r>
              <a:t>no live data before truck departure</a:t>
            </a:r>
          </a:p>
        </p:txBody>
      </p:sp>
      <p:sp>
        <p:nvSpPr>
          <p:cNvPr id="13" name="TextBox 12"/>
          <p:cNvSpPr txBox="1"/>
          <p:nvPr/>
        </p:nvSpPr>
        <p:spPr>
          <a:xfrm>
            <a:off x="6430975" y="3429000"/>
            <a:ext cx="4846320" cy="2560320"/>
          </a:xfrm>
          <a:prstGeom prst="rect">
            <a:avLst/>
          </a:prstGeom>
          <a:noFill/>
        </p:spPr>
        <p:txBody>
          <a:bodyPr wrap="square">
            <a:spAutoFit/>
          </a:bodyPr>
          <a:lstStyle/>
          <a:p>
            <a:pPr>
              <a:defRPr sz="1150">
                <a:solidFill>
                  <a:srgbClr val="0F172A"/>
                </a:solidFill>
                <a:latin typeface="Segoe UI"/>
              </a:defRPr>
            </a:pPr>
            <a:r>
              <a:t>Waste management companies follow rigid weekly calendars. Drivers stop at every single bin regardless of whether it is empty or overflowing, burning excessive fuel and operator hours.</a:t>
            </a:r>
          </a:p>
          <a:p>
            <a:pPr>
              <a:spcBef>
                <a:spcPts val="800"/>
              </a:spcBef>
              <a:defRPr sz="1150">
                <a:solidFill>
                  <a:srgbClr val="64748B"/>
                </a:solidFill>
                <a:latin typeface="Segoe UI"/>
              </a:defRPr>
            </a:pPr>
            <a:r>
              <a:t>Without automated telemetry, sanitation services cannot dynamically prioritize routes. Bins with persistent side-waste remain unserviced for days, while clean containers receive wasted stops.</a:t>
            </a:r>
          </a:p>
        </p:txBody>
      </p:sp>
      <p:sp>
        <p:nvSpPr>
          <p:cNvPr id="14" name="TextBox 13"/>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Keizer et al. (Science 2008) 'The Spreading of Disorder'; Stadtreinigung Hamburg; Frost &amp; Sullivan Global Smart Waste Management Report.</a:t>
            </a:r>
          </a:p>
        </p:txBody>
      </p:sp>
      <p:sp>
        <p:nvSpPr>
          <p:cNvPr id="15" name="TextBox 14"/>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(Standard Edition)  |  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THE SOLUTION  |  0:20 - 0:35</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Dual-Zone Detection: Sees the Ground, Checks the Bin, Speaks Up.</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STEP 1: GROUND DEBOUNCE</a:t>
            </a:r>
          </a:p>
          <a:p>
            <a:pPr>
              <a:spcBef>
                <a:spcPts val="300"/>
              </a:spcBef>
              <a:defRPr sz="1550" b="1">
                <a:solidFill>
                  <a:srgbClr val="0F172A"/>
                </a:solidFill>
              </a:defRPr>
            </a:pPr>
            <a:r>
              <a:t>Ultrasonic Pavement Radar</a:t>
            </a:r>
          </a:p>
          <a:p>
            <a:pPr>
              <a:spcBef>
                <a:spcPts val="600"/>
              </a:spcBef>
              <a:defRPr sz="1150">
                <a:solidFill>
                  <a:srgbClr val="64748B"/>
                </a:solidFill>
              </a:defRPr>
            </a:pPr>
            <a:r>
              <a:t>JSN-SR04T waterproof sensor monitors 0.8m ground radius. 8-second debounce timer ignores passing pedestrians. 100% false-alarm proof.</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STEP 2: 220ms EDGE-AI</a:t>
            </a:r>
          </a:p>
          <a:p>
            <a:pPr>
              <a:spcBef>
                <a:spcPts val="300"/>
              </a:spcBef>
              <a:defRPr sz="1550" b="1">
                <a:solidFill>
                  <a:srgbClr val="0F172A"/>
                </a:solidFill>
              </a:defRPr>
            </a:pPr>
            <a:r>
              <a:t>On-Chip Privacy Vision</a:t>
            </a:r>
          </a:p>
          <a:p>
            <a:pPr>
              <a:spcBef>
                <a:spcPts val="600"/>
              </a:spcBef>
              <a:defRPr sz="1150">
                <a:solidFill>
                  <a:srgbClr val="64748B"/>
                </a:solidFill>
              </a:defRPr>
            </a:pPr>
            <a:r>
              <a:t>ESP32-S3 neural network runs in 220ms. Verifies trash bags &amp; boxes. Photo erased from RAM immediately—0% cloud photo 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STEP 3: ACTIVE DETERRENT</a:t>
            </a:r>
          </a:p>
          <a:p>
            <a:pPr>
              <a:spcBef>
                <a:spcPts val="300"/>
              </a:spcBef>
              <a:defRPr sz="1550" b="1">
                <a:solidFill>
                  <a:srgbClr val="0F172A"/>
                </a:solidFill>
              </a:defRPr>
            </a:pPr>
            <a:r>
              <a:t>Voice Prompt + Escalation</a:t>
            </a:r>
          </a:p>
          <a:p>
            <a:pPr>
              <a:spcBef>
                <a:spcPts val="600"/>
              </a:spcBef>
              <a:defRPr sz="1150">
                <a:solidFill>
                  <a:srgbClr val="64748B"/>
                </a:solidFill>
              </a:defRPr>
            </a:pPr>
            <a:r>
              <a:t>Checks bin fill level. If space remains, 3W speaker speaks: 'Bitte den Müll hineinwerfen!' Over 60% of citizens self-correct immediately.</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Keep Britain Tidy 'Talking Bins' behavioral nudging trial (60%+ compliance); Cialdini (2007) auditory social prompts in public spaces.</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(Standard Edition)  |  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PRODUCTION HARDWARE  |  0:35 - 0:45</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Weatherproof IP67 Architecture &amp; Perpetual Solar Autonomy.</a:t>
            </a:r>
          </a:p>
        </p:txBody>
      </p:sp>
      <p:pic>
        <p:nvPicPr>
          <p:cNvPr id="4" name="Picture 3" descr="daneben_iot_exploded_assembly_render_1792599769801.jpg"/>
          <p:cNvPicPr>
            <a:picLocks noChangeAspect="1"/>
          </p:cNvPicPr>
          <p:nvPr/>
        </p:nvPicPr>
        <p:blipFill>
          <a:blip r:embed="rId2"/>
          <a:stretch>
            <a:fillRect/>
          </a:stretch>
        </p:blipFill>
        <p:spPr>
          <a:xfrm>
            <a:off x="2986430" y="1572768"/>
            <a:ext cx="6217920" cy="4642714"/>
          </a:xfrm>
          <a:prstGeom prst="rect">
            <a:avLst/>
          </a:prstGeom>
        </p:spPr>
      </p:pic>
      <p:sp>
        <p:nvSpPr>
          <p:cNvPr id="5" name="Rounded Rectangle 4"/>
          <p:cNvSpPr/>
          <p:nvPr/>
        </p:nvSpPr>
        <p:spPr>
          <a:xfrm>
            <a:off x="594360" y="160020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1.5W Solar Roof (20° Angle)</a:t>
            </a:r>
          </a:p>
          <a:p>
            <a:pPr>
              <a:spcBef>
                <a:spcPts val="200"/>
              </a:spcBef>
              <a:defRPr sz="950">
                <a:solidFill>
                  <a:srgbClr val="64748B"/>
                </a:solidFill>
                <a:latin typeface="Segoe UI"/>
              </a:defRPr>
            </a:pPr>
            <a:r>
              <a:t>Self-cleaning sloped lid with CN3791 MPPT</a:t>
            </a:r>
          </a:p>
        </p:txBody>
      </p:sp>
      <p:cxnSp>
        <p:nvCxnSpPr>
          <p:cNvPr id="6" name="Connector 5"/>
          <p:cNvCxnSpPr/>
          <p:nvPr/>
        </p:nvCxnSpPr>
        <p:spPr>
          <a:xfrm>
            <a:off x="2880360" y="1988820"/>
            <a:ext cx="2904134" cy="620199"/>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729630" y="255415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69748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Silicone Sealing Ring</a:t>
            </a:r>
          </a:p>
          <a:p>
            <a:pPr>
              <a:spcBef>
                <a:spcPts val="200"/>
              </a:spcBef>
              <a:defRPr sz="950">
                <a:solidFill>
                  <a:srgbClr val="64748B"/>
                </a:solidFill>
                <a:latin typeface="Segoe UI"/>
              </a:defRPr>
            </a:pPr>
            <a:r>
              <a:t>IP67 weatherproof O-ring perimeter gasket</a:t>
            </a:r>
          </a:p>
        </p:txBody>
      </p:sp>
      <p:cxnSp>
        <p:nvCxnSpPr>
          <p:cNvPr id="9" name="Connector 8"/>
          <p:cNvCxnSpPr/>
          <p:nvPr/>
        </p:nvCxnSpPr>
        <p:spPr>
          <a:xfrm>
            <a:off x="2880360" y="3086100"/>
            <a:ext cx="2308250" cy="48145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133746" y="3512689"/>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79476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XIAO ESP32-S3 Sense</a:t>
            </a:r>
          </a:p>
          <a:p>
            <a:pPr>
              <a:spcBef>
                <a:spcPts val="200"/>
              </a:spcBef>
              <a:defRPr sz="950">
                <a:solidFill>
                  <a:srgbClr val="64748B"/>
                </a:solidFill>
                <a:latin typeface="Segoe UI"/>
              </a:defRPr>
            </a:pPr>
            <a:r>
              <a:t>Dual-core 240MHz, 8MB PSRAM Edge AI</a:t>
            </a:r>
          </a:p>
        </p:txBody>
      </p:sp>
      <p:cxnSp>
        <p:nvCxnSpPr>
          <p:cNvPr id="12" name="Connector 11"/>
          <p:cNvCxnSpPr/>
          <p:nvPr/>
        </p:nvCxnSpPr>
        <p:spPr>
          <a:xfrm flipV="1">
            <a:off x="2880360" y="3956147"/>
            <a:ext cx="2696870" cy="22723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522366" y="3901283"/>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4360" y="489204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18650 Li-Ion Battery (3400mAh)</a:t>
            </a:r>
          </a:p>
          <a:p>
            <a:pPr>
              <a:spcBef>
                <a:spcPts val="200"/>
              </a:spcBef>
              <a:defRPr sz="950">
                <a:solidFill>
                  <a:srgbClr val="64748B"/>
                </a:solidFill>
                <a:latin typeface="Segoe UI"/>
              </a:defRPr>
            </a:pPr>
            <a:r>
              <a:t>Isolated screw-cap tube; 35 days dark runtime</a:t>
            </a:r>
          </a:p>
        </p:txBody>
      </p:sp>
      <p:cxnSp>
        <p:nvCxnSpPr>
          <p:cNvPr id="15" name="Connector 14"/>
          <p:cNvCxnSpPr/>
          <p:nvPr/>
        </p:nvCxnSpPr>
        <p:spPr>
          <a:xfrm flipV="1">
            <a:off x="2880360" y="4992399"/>
            <a:ext cx="2645053" cy="288261"/>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470549" y="493753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81160" y="2148840"/>
            <a:ext cx="2286000" cy="841248"/>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OV2640 Camera Lens</a:t>
            </a:r>
          </a:p>
          <a:p>
            <a:pPr>
              <a:spcBef>
                <a:spcPts val="200"/>
              </a:spcBef>
              <a:defRPr sz="950">
                <a:solidFill>
                  <a:srgbClr val="64748B"/>
                </a:solidFill>
                <a:latin typeface="Segoe UI"/>
              </a:defRPr>
            </a:pPr>
            <a:r>
              <a:t>45° downward angle (0.8m pavement only, GDPR-safe)</a:t>
            </a:r>
          </a:p>
        </p:txBody>
      </p:sp>
      <p:cxnSp>
        <p:nvCxnSpPr>
          <p:cNvPr id="18" name="Connector 17"/>
          <p:cNvCxnSpPr/>
          <p:nvPr/>
        </p:nvCxnSpPr>
        <p:spPr>
          <a:xfrm flipH="1">
            <a:off x="6727545" y="2569464"/>
            <a:ext cx="2553615" cy="1568027"/>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72681" y="4082627"/>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81160" y="356616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Ultrasonic Sensor Port</a:t>
            </a:r>
          </a:p>
          <a:p>
            <a:pPr>
              <a:spcBef>
                <a:spcPts val="200"/>
              </a:spcBef>
              <a:defRPr sz="950">
                <a:solidFill>
                  <a:srgbClr val="64748B"/>
                </a:solidFill>
                <a:latin typeface="Segoe UI"/>
              </a:defRPr>
            </a:pPr>
            <a:r>
              <a:t>Precision circular port for JSN-SR04T radar</a:t>
            </a:r>
          </a:p>
        </p:txBody>
      </p:sp>
      <p:cxnSp>
        <p:nvCxnSpPr>
          <p:cNvPr id="21" name="Connector 20"/>
          <p:cNvCxnSpPr/>
          <p:nvPr/>
        </p:nvCxnSpPr>
        <p:spPr>
          <a:xfrm flipH="1">
            <a:off x="7131710" y="3968496"/>
            <a:ext cx="2149450" cy="97209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076846" y="488572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81160" y="480060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Acoustic Speaker Grille</a:t>
            </a:r>
          </a:p>
          <a:p>
            <a:pPr>
              <a:spcBef>
                <a:spcPts val="200"/>
              </a:spcBef>
              <a:defRPr sz="950">
                <a:solidFill>
                  <a:srgbClr val="64748B"/>
                </a:solidFill>
                <a:latin typeface="Segoe UI"/>
              </a:defRPr>
            </a:pPr>
            <a:r>
              <a:t>3W voice prompt aperture with Gore-Tex vent</a:t>
            </a:r>
          </a:p>
        </p:txBody>
      </p:sp>
      <p:cxnSp>
        <p:nvCxnSpPr>
          <p:cNvPr id="24" name="Connector 23"/>
          <p:cNvCxnSpPr/>
          <p:nvPr/>
        </p:nvCxnSpPr>
        <p:spPr>
          <a:xfrm flipH="1">
            <a:off x="6665366" y="5202936"/>
            <a:ext cx="2615794" cy="2262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10502" y="517069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BOM &amp; hardware qualification verified via BerryBase/Mouser industrial component datasheets; IP67 test procedures.</a:t>
            </a:r>
          </a:p>
        </p:txBody>
      </p:sp>
      <p:sp>
        <p:nvSpPr>
          <p:cNvPr id="27" name="TextBox 2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(Standard Edition)  |  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MUNICIPAL IMPACT  |  0:45 - 0:55</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City ROI: Stopping Side-Trash &amp; Cutting Wasted Truck Routes.</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WITHOUT DANEBEN!  (STATUS QUO)</a:t>
            </a:r>
          </a:p>
          <a:p>
            <a:pPr>
              <a:spcBef>
                <a:spcPts val="400"/>
              </a:spcBef>
              <a:defRPr sz="1150">
                <a:solidFill>
                  <a:srgbClr val="0F172A"/>
                </a:solidFill>
              </a:defRPr>
            </a:pPr>
            <a:r>
              <a:t>• Half-empty bins blocked by bags on the pavement; copycat dumping accelerates.</a:t>
            </a:r>
            <a:br/>
            <a:r>
              <a:t>• Fleets drive rigid calendars, stopping at empty bins and missing problem spots.</a:t>
            </a:r>
            <a:br/>
            <a:r>
              <a:t>• Expensive emergency clean-up vans dispatched reactively via citizen complaints.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WITH DANEBEN!  (ACTIVE PREVENTION &amp; SMART DISPATCH)</a:t>
            </a:r>
          </a:p>
          <a:p>
            <a:pPr>
              <a:spcBef>
                <a:spcPts val="400"/>
              </a:spcBef>
              <a:defRPr sz="1150">
                <a:solidFill>
                  <a:srgbClr val="0F172A"/>
                </a:solidFill>
              </a:defRPr>
            </a:pPr>
            <a:r>
              <a:t>• 60%+ of citizens immediately self-correct and put their trash inside the bin.</a:t>
            </a:r>
            <a:br/>
            <a:r>
              <a:t>• Ground remains clean; bins are utilized to their full 100% capacity.</a:t>
            </a:r>
            <a:br/>
            <a:r>
              <a:t>• Sanitation trucks dispatched dynamically only to verified full bins or persistent dumps.</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Less Side-Dumping</a:t>
            </a:r>
          </a:p>
          <a:p>
            <a:pPr>
              <a:spcBef>
                <a:spcPts val="400"/>
              </a:spcBef>
              <a:defRPr sz="1150">
                <a:solidFill>
                  <a:srgbClr val="64748B"/>
                </a:solidFill>
              </a:defRPr>
            </a:pPr>
            <a:r>
              <a:t>Measured reduction in cardboard and bag dumping at glass/textile recycling depots.</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Fewer Truck Stops</a:t>
            </a:r>
          </a:p>
          <a:p>
            <a:pPr>
              <a:spcBef>
                <a:spcPts val="400"/>
              </a:spcBef>
              <a:defRPr sz="1150">
                <a:solidFill>
                  <a:srgbClr val="64748B"/>
                </a:solidFill>
              </a:defRPr>
            </a:pPr>
            <a:r>
              <a:t>Dynamic route scheduling eliminates unnecessary visits to half-empty containers.</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Days</a:t>
            </a:r>
          </a:p>
          <a:p>
            <a:pPr>
              <a:spcBef>
                <a:spcPts val="200"/>
              </a:spcBef>
              <a:defRPr sz="1550" b="1">
                <a:solidFill>
                  <a:srgbClr val="0F172A"/>
                </a:solidFill>
              </a:defRPr>
            </a:pPr>
            <a:r>
              <a:t>Payback Period</a:t>
            </a:r>
          </a:p>
          <a:p>
            <a:pPr>
              <a:spcBef>
                <a:spcPts val="400"/>
              </a:spcBef>
              <a:defRPr sz="1150">
                <a:solidFill>
                  <a:srgbClr val="64748B"/>
                </a:solidFill>
              </a:defRPr>
            </a:pPr>
            <a:r>
              <a:t>Avoiding just 3 to 4 manual €45 cleanup patrol stops recovers the entire €149 unit cost.</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Payback math: €149 device / (€45 savings per eliminated stop × 3.5 stops/month) = 0.95 months; 30% route efficiency via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(Standard Edition)  |  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WRAP-UP &amp; QUESTIONS  |  0:55 - 1:00</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Thank You for Listening! Let's Keep the City Clean.</a:t>
            </a:r>
          </a:p>
        </p:txBody>
      </p:sp>
      <p:sp>
        <p:nvSpPr>
          <p:cNvPr id="4" name="Rounded Rectangle 3"/>
          <p:cNvSpPr/>
          <p:nvPr/>
        </p:nvSpPr>
        <p:spPr>
          <a:xfrm>
            <a:off x="731520" y="1691640"/>
            <a:ext cx="5120640" cy="448056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 OUR SHARED MISSION</a:t>
            </a:r>
          </a:p>
          <a:p>
            <a:pPr>
              <a:spcBef>
                <a:spcPts val="400"/>
              </a:spcBef>
              <a:defRPr sz="2600" b="1">
                <a:solidFill>
                  <a:srgbClr val="0F172A"/>
                </a:solidFill>
                <a:latin typeface="Segoe UI"/>
              </a:defRPr>
            </a:pPr>
            <a:r>
              <a:t>“Let's keep the city clean!”</a:t>
            </a:r>
          </a:p>
          <a:p>
            <a:pPr>
              <a:spcBef>
                <a:spcPts val="400"/>
              </a:spcBef>
              <a:defRPr sz="1350" b="1">
                <a:solidFill>
                  <a:srgbClr val="10B981"/>
                </a:solidFill>
                <a:latin typeface="Segoe UI"/>
              </a:defRPr>
            </a:pPr>
            <a:r>
              <a:t>Trash belongs in the bin — never “Daneben!”</a:t>
            </a:r>
          </a:p>
          <a:p>
            <a:pPr>
              <a:spcBef>
                <a:spcPts val="600"/>
              </a:spcBef>
            </a:pPr>
            <a:r>
              <a:rPr sz="1150" b="1">
                <a:solidFill>
                  <a:srgbClr val="0F172A"/>
                </a:solidFill>
                <a:latin typeface="Segoe UI"/>
              </a:rPr>
              <a:t>• Active Citizen Nudging:</a:t>
            </a:r>
            <a:r>
              <a:rPr sz="1150">
                <a:solidFill>
                  <a:srgbClr val="64748B"/>
                </a:solidFill>
                <a:latin typeface="Segoe UI"/>
              </a:rPr>
              <a:t> Immediate voice prompts correct littering behavior before bags accumulate.</a:t>
            </a:r>
          </a:p>
          <a:p>
            <a:pPr>
              <a:spcBef>
                <a:spcPts val="600"/>
              </a:spcBef>
            </a:pPr>
            <a:r>
              <a:rPr sz="1150" b="1">
                <a:solidFill>
                  <a:srgbClr val="0F172A"/>
                </a:solidFill>
                <a:latin typeface="Segoe UI"/>
              </a:rPr>
              <a:t>• 100% Privacy &amp; GDPR:</a:t>
            </a:r>
            <a:r>
              <a:rPr sz="1150">
                <a:solidFill>
                  <a:srgbClr val="64748B"/>
                </a:solidFill>
                <a:latin typeface="Segoe UI"/>
              </a:rPr>
              <a:t> On-chip neural inference in 220ms; zero video footage saved or uploaded.</a:t>
            </a:r>
          </a:p>
          <a:p>
            <a:pPr>
              <a:spcBef>
                <a:spcPts val="600"/>
              </a:spcBef>
            </a:pPr>
            <a:r>
              <a:rPr sz="1150" b="1">
                <a:solidFill>
                  <a:srgbClr val="0F172A"/>
                </a:solidFill>
                <a:latin typeface="Segoe UI"/>
              </a:rPr>
              <a:t>• Fleet Efficiency:</a:t>
            </a:r>
            <a:r>
              <a:rPr sz="1150">
                <a:solidFill>
                  <a:srgbClr val="64748B"/>
                </a:solidFill>
                <a:latin typeface="Segoe UI"/>
              </a:rPr>
              <a:t> Dynamic dispatch eliminates up to 30% of unnecessary empty-bin truck routes.</a:t>
            </a:r>
          </a:p>
          <a:p>
            <a:pPr>
              <a:spcBef>
                <a:spcPts val="600"/>
              </a:spcBef>
            </a:pPr>
            <a:r>
              <a:rPr sz="1150" b="1">
                <a:solidFill>
                  <a:srgbClr val="0F172A"/>
                </a:solidFill>
                <a:latin typeface="Segoe UI"/>
              </a:rPr>
              <a:t>• Scalable Solar Retrofit:</a:t>
            </a:r>
            <a:r>
              <a:rPr sz="1150">
                <a:solidFill>
                  <a:srgbClr val="64748B"/>
                </a:solidFill>
                <a:latin typeface="Segoe UI"/>
              </a:rPr>
              <a:t> IP67 weatherproof enclosure mounts to existing municipal bins in minutes.</a:t>
            </a:r>
          </a:p>
          <a:p>
            <a:pPr>
              <a:spcBef>
                <a:spcPts val="1400"/>
              </a:spcBef>
              <a:defRPr sz="1050" b="1">
                <a:solidFill>
                  <a:srgbClr val="0F172A"/>
                </a:solidFill>
                <a:latin typeface="Segoe UI"/>
              </a:defRPr>
            </a:pPr>
            <a:r>
              <a:t>Hochschule Niederrhein (HSNR) · Faculty of Electrical Engineering &amp; CS</a:t>
            </a:r>
          </a:p>
          <a:p>
            <a:pPr>
              <a:spcBef>
                <a:spcPts val="200"/>
              </a:spcBef>
              <a:defRPr sz="950">
                <a:solidFill>
                  <a:srgbClr val="64748B"/>
                </a:solidFill>
                <a:latin typeface="Segoe UI"/>
              </a:defRPr>
            </a:pPr>
            <a:r>
              <a:t>Team: Chukwuekwugo Egbuonu (Lead), Hilary Mubwandarikwa, Ala Temimi</a:t>
            </a:r>
            <a:br/>
            <a:r>
              <a:t>Project: Daneben! · Course: Microcontrollers (5th Sem.) · Ready for Municipal Pilots in NRW</a:t>
            </a:r>
          </a:p>
        </p:txBody>
      </p:sp>
      <p:sp>
        <p:nvSpPr>
          <p:cNvPr id="5" name="Rounded Rectangle 4"/>
          <p:cNvSpPr/>
          <p:nvPr/>
        </p:nvSpPr>
        <p:spPr>
          <a:xfrm>
            <a:off x="6080760" y="1691640"/>
            <a:ext cx="5349240" cy="4480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63640" y="1783080"/>
            <a:ext cx="4983480" cy="320040"/>
          </a:xfrm>
          <a:prstGeom prst="rect">
            <a:avLst/>
          </a:prstGeom>
          <a:noFill/>
        </p:spPr>
        <p:txBody>
          <a:bodyPr wrap="none">
            <a:spAutoFit/>
          </a:bodyPr>
          <a:lstStyle/>
          <a:p>
            <a:pPr>
              <a:defRPr sz="1350" b="1">
                <a:solidFill>
                  <a:srgbClr val="0F172A"/>
                </a:solidFill>
                <a:latin typeface="Segoe UI"/>
              </a:defRPr>
            </a:pPr>
            <a:r>
              <a:t>✨ A Cleaner City with Intelligent Waste Bins</a:t>
            </a:r>
          </a:p>
        </p:txBody>
      </p:sp>
      <p:pic>
        <p:nvPicPr>
          <p:cNvPr id="7" name="Picture 6" descr="clean_city_illustration_png_1792698653752.jpg"/>
          <p:cNvPicPr>
            <a:picLocks noChangeAspect="1"/>
          </p:cNvPicPr>
          <p:nvPr/>
        </p:nvPicPr>
        <p:blipFill>
          <a:blip r:embed="rId2"/>
          <a:stretch>
            <a:fillRect/>
          </a:stretch>
        </p:blipFill>
        <p:spPr>
          <a:xfrm>
            <a:off x="6263640" y="2176272"/>
            <a:ext cx="4983480" cy="2781477"/>
          </a:xfrm>
          <a:prstGeom prst="rect">
            <a:avLst/>
          </a:prstGeom>
        </p:spPr>
      </p:pic>
      <p:sp>
        <p:nvSpPr>
          <p:cNvPr id="8" name="Rounded Rectangle 7"/>
          <p:cNvSpPr/>
          <p:nvPr/>
        </p:nvSpPr>
        <p:spPr>
          <a:xfrm>
            <a:off x="6263640" y="5138928"/>
            <a:ext cx="4983480" cy="841248"/>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Spotless Pavements  •  Happy Citizens  •  Smart Fleet Optimization</a:t>
            </a:r>
          </a:p>
          <a:p>
            <a:pPr algn="ctr">
              <a:spcBef>
                <a:spcPts val="300"/>
              </a:spcBef>
              <a:defRPr sz="950">
                <a:solidFill>
                  <a:srgbClr val="64748B"/>
                </a:solidFill>
                <a:latin typeface="Segoe UI"/>
              </a:defRPr>
            </a:pPr>
            <a:r>
              <a:t>Daneben! Smart Waste Bin Detection System</a:t>
            </a:r>
          </a:p>
        </p:txBody>
      </p:sp>
      <p:sp>
        <p:nvSpPr>
          <p:cNvPr id="9" name="TextBox 8"/>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(Standard Edition)  |  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