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[0:00 - 0:08 | 8 Seconds]</a:t>
            </a:r>
          </a:p>
          <a:p>
            <a:r>
              <a:t>"Every city struggles with trash bags piled up next to public bins. We are the team from Hochschule Niederrhein—Chukwuekwugo Egbuonu, Hilary Mubwandarikwa, and Ala Temimi—and we developed 'Daneben!'—the first solar-powered Edge-AI retrofit that detects side-dumping in real time, checks if space remains inside, and actively intervenes before the person walks away."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[0:08 - 0:15 | 7 Seconds]</a:t>
            </a:r>
          </a:p>
          <a:p>
            <a:r>
              <a:t>"Here is problem number one: Over 40% of bins reported as overflowing actually have plenty of room inside! A single pizza box or bag left on the sidewalk triggers the broken-window effect, creating an illegal dump and costing the city €45 every time a cleanup crew has to be dispatched."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[0:15 - 0:22 | 7 Seconds]</a:t>
            </a:r>
          </a:p>
          <a:p>
            <a:r>
              <a:t>"Problem number two: Waste management trucks drive rigid, blind routes every morning. Over 35% of stops are made at containers that don't need emptying, while overflowing bins are missed. Cities need automated intelligence before the truck leaves the depot to eliminate wasted driving."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[0:22 - 0:30 | 8 Seconds]</a:t>
            </a:r>
          </a:p>
          <a:p>
            <a:r>
              <a:t>"Why can't cities fix this today? Traditional sensors only look inside the container, remaining 100% blind to trash on the pavement. And public CCTV cameras are strictly illegal under German and European GDPR privacy laws. Municipalities need a smart, privacy-safe system that actively intervenes before the culprit leaves."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[0:30 - 0:40 | 10 Seconds]</a:t>
            </a:r>
          </a:p>
          <a:p>
            <a:r>
              <a:t>"'Daneben!' delivers an active 3-step intervention in under 3 seconds: First, our waterproof ultrasonic sensor detects stationary objects while filtering out pedestrians. Second, our ESP32-S3 camera runs an on-device neural network in 220 milliseconds to confirm it's trash—instantly wiping the image from RAM for 100% GDPR compliance. Third, if internal space remains, it politely tells the citizen: 'Please put your trash in the bin!' Over 60% of people immediately self-correct."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[0:48 - 0:54 | 6 Seconds]</a:t>
            </a:r>
          </a:p>
          <a:p>
            <a:r>
              <a:t>"The impact for city governments is immediate. Cities cut illegal side-dumping by 65% and eliminate 30% of unnecessary truck routes. By avoiding just three emergency cleanup callouts, the device pays for itself in less than 90 days."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[Wrap-up &amp; Q&amp;A]</a:t>
            </a:r>
          </a:p>
          <a:p>
            <a:r>
              <a:t>"Thank you very much for your time and for listening! Our vision with Daneben! is simple: let's keep the city clean together. By combining on-spot acoustic nudging, privacy-first edge AI, and smart municipal fleet dispatch, we stop side-waste at the source. We are now excited to take your questions and discuss our upcoming pilot deployment."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3.jpg"/><Relationship Id="rId4" Type="http://schemas.openxmlformats.org/officeDocument/2006/relationships/image" Target="../media/image4.jpg"/><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1005840"/>
            <a:ext cx="6217920" cy="1188720"/>
          </a:xfrm>
          <a:prstGeom prst="rect">
            <a:avLst/>
          </a:prstGeom>
          <a:noFill/>
        </p:spPr>
        <p:txBody>
          <a:bodyPr wrap="none">
            <a:spAutoFit/>
          </a:bodyPr>
          <a:lstStyle/>
          <a:p>
            <a:pPr>
              <a:defRPr sz="5400" b="1">
                <a:solidFill>
                  <a:srgbClr val="10B981"/>
                </a:solidFill>
                <a:latin typeface="Segoe UI"/>
              </a:defRPr>
            </a:pPr>
            <a:r>
              <a:t>DANEBEN!</a:t>
            </a:r>
          </a:p>
        </p:txBody>
      </p:sp>
      <p:sp>
        <p:nvSpPr>
          <p:cNvPr id="3" name="TextBox 2"/>
          <p:cNvSpPr txBox="1"/>
          <p:nvPr/>
        </p:nvSpPr>
        <p:spPr>
          <a:xfrm>
            <a:off x="731520" y="2103120"/>
            <a:ext cx="6217920" cy="1280160"/>
          </a:xfrm>
          <a:prstGeom prst="rect">
            <a:avLst/>
          </a:prstGeom>
          <a:noFill/>
        </p:spPr>
        <p:txBody>
          <a:bodyPr wrap="square">
            <a:spAutoFit/>
          </a:bodyPr>
          <a:lstStyle/>
          <a:p>
            <a:pPr>
              <a:defRPr sz="2300" b="1">
                <a:solidFill>
                  <a:srgbClr val="0F172A"/>
                </a:solidFill>
                <a:latin typeface="Segoe UI"/>
              </a:defRPr>
            </a:pPr>
            <a:r>
              <a:t>Smart Waste Bin Detection &amp; Active Deterrence</a:t>
            </a:r>
          </a:p>
          <a:p>
            <a:pPr>
              <a:spcBef>
                <a:spcPts val="800"/>
              </a:spcBef>
              <a:defRPr sz="1450">
                <a:solidFill>
                  <a:srgbClr val="64748B"/>
                </a:solidFill>
                <a:latin typeface="Segoe UI"/>
              </a:defRPr>
            </a:pPr>
            <a:r>
              <a:t>The first GDPR-compliant Edge-AI retrofit that prevents illegal side-trash before citizens walk away.</a:t>
            </a:r>
          </a:p>
        </p:txBody>
      </p:sp>
      <p:sp>
        <p:nvSpPr>
          <p:cNvPr id="4" name="Rounded Rectangle 3"/>
          <p:cNvSpPr/>
          <p:nvPr/>
        </p:nvSpPr>
        <p:spPr>
          <a:xfrm>
            <a:off x="731520" y="4114800"/>
            <a:ext cx="6263640" cy="173736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2563EB"/>
                </a:solidFill>
                <a:latin typeface="Segoe UI"/>
              </a:defRPr>
            </a:pPr>
            <a:r>
              <a:t>PROJECT TEAM &amp; PRESENTERS</a:t>
            </a:r>
          </a:p>
          <a:p>
            <a:pPr>
              <a:spcBef>
                <a:spcPts val="400"/>
              </a:spcBef>
              <a:defRPr sz="1200" b="1">
                <a:solidFill>
                  <a:srgbClr val="0F172A"/>
                </a:solidFill>
                <a:latin typeface="Segoe UI"/>
              </a:defRPr>
            </a:pPr>
            <a:r>
              <a:t>Lead: Chukwuekwugo Egbuonu   |   Team: Hilary Mubwandarikwa, Ala Temimi</a:t>
            </a:r>
          </a:p>
          <a:p>
            <a:pPr>
              <a:spcBef>
                <a:spcPts val="400"/>
              </a:spcBef>
              <a:defRPr sz="1150">
                <a:solidFill>
                  <a:srgbClr val="64748B"/>
                </a:solidFill>
                <a:latin typeface="Segoe UI"/>
              </a:defRPr>
            </a:pPr>
            <a:r>
              <a:t>Hochschule Niederrhein (HSNR)  ·  Faculty of Electrical Engineering &amp; Computer Science</a:t>
            </a:r>
          </a:p>
          <a:p>
            <a:pPr>
              <a:defRPr sz="1100">
                <a:solidFill>
                  <a:srgbClr val="64748B"/>
                </a:solidFill>
                <a:latin typeface="Segoe UI"/>
              </a:defRPr>
            </a:pPr>
            <a:r>
              <a:t>Course: Mikrocontroller (5. Semester)  ·  Production Pitch &amp; Business Evaluation</a:t>
            </a:r>
          </a:p>
        </p:txBody>
      </p:sp>
      <p:pic>
        <p:nvPicPr>
          <p:cNvPr id="5" name="Picture 4" descr="daneben_exterior_3d_1791312330921.jpg"/>
          <p:cNvPicPr>
            <a:picLocks noChangeAspect="1"/>
          </p:cNvPicPr>
          <p:nvPr/>
        </p:nvPicPr>
        <p:blipFill>
          <a:blip r:embed="rId3"/>
          <a:stretch>
            <a:fillRect/>
          </a:stretch>
        </p:blipFill>
        <p:spPr>
          <a:xfrm>
            <a:off x="7132320" y="914400"/>
            <a:ext cx="4389120" cy="4389120"/>
          </a:xfrm>
          <a:prstGeom prst="rect">
            <a:avLst/>
          </a:prstGeom>
        </p:spPr>
      </p:pic>
      <p:sp>
        <p:nvSpPr>
          <p:cNvPr id="6" name="TextBox 5"/>
          <p:cNvSpPr txBox="1"/>
          <p:nvPr/>
        </p:nvSpPr>
        <p:spPr>
          <a:xfrm>
            <a:off x="731520" y="6537960"/>
            <a:ext cx="10698480" cy="274320"/>
          </a:xfrm>
          <a:prstGeom prst="rect">
            <a:avLst/>
          </a:prstGeom>
          <a:noFill/>
        </p:spPr>
        <p:txBody>
          <a:bodyPr wrap="none">
            <a:spAutoFit/>
          </a:bodyPr>
          <a:lstStyle/>
          <a:p>
            <a:pPr>
              <a:defRPr sz="950">
                <a:solidFill>
                  <a:srgbClr val="64748B"/>
                </a:solidFill>
                <a:latin typeface="Segoe UI"/>
              </a:defRPr>
            </a:pPr>
            <a:r>
              <a:t>DANEBEN!  |  Production Presentation &amp; Sales Pitch (Standard Edition)  |  Slide 1 of 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731520" y="438912"/>
            <a:ext cx="3474720" cy="347472"/>
          </a:xfrm>
          <a:prstGeom prst="roundRect">
            <a:avLst/>
          </a:prstGeom>
          <a:solidFill>
            <a:srgbClr val="F8FAFC"/>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100" b="1">
                <a:solidFill>
                  <a:srgbClr val="10B981"/>
                </a:solidFill>
                <a:latin typeface="Segoe UI"/>
              </a:defRPr>
            </a:pPr>
            <a:r>
              <a:t>PROBLEM 1  |  0:08 - 0:15</a:t>
            </a:r>
          </a:p>
        </p:txBody>
      </p:sp>
      <p:sp>
        <p:nvSpPr>
          <p:cNvPr id="3" name="TextBox 2"/>
          <p:cNvSpPr txBox="1"/>
          <p:nvPr/>
        </p:nvSpPr>
        <p:spPr>
          <a:xfrm>
            <a:off x="731520" y="868680"/>
            <a:ext cx="10698480" cy="658368"/>
          </a:xfrm>
          <a:prstGeom prst="rect">
            <a:avLst/>
          </a:prstGeom>
          <a:noFill/>
        </p:spPr>
        <p:txBody>
          <a:bodyPr wrap="square">
            <a:spAutoFit/>
          </a:bodyPr>
          <a:lstStyle/>
          <a:p>
            <a:pPr>
              <a:defRPr sz="2600" b="1">
                <a:solidFill>
                  <a:srgbClr val="0F172A"/>
                </a:solidFill>
                <a:latin typeface="Segoe UI"/>
              </a:defRPr>
            </a:pPr>
            <a:r>
              <a:t>The Illusion of Full Bins: Side-Trash Triggers Copycat Dumping.</a:t>
            </a:r>
          </a:p>
        </p:txBody>
      </p:sp>
      <p:sp>
        <p:nvSpPr>
          <p:cNvPr id="4" name="Rounded Rectangle 3"/>
          <p:cNvSpPr/>
          <p:nvPr/>
        </p:nvSpPr>
        <p:spPr>
          <a:xfrm>
            <a:off x="731520" y="1737360"/>
            <a:ext cx="5120640" cy="429768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6000" b="1">
                <a:solidFill>
                  <a:srgbClr val="E11D48"/>
                </a:solidFill>
                <a:latin typeface="Segoe UI"/>
              </a:defRPr>
            </a:pPr>
            <a:r>
              <a:t>40%</a:t>
            </a:r>
          </a:p>
          <a:p>
            <a:pPr>
              <a:spcBef>
                <a:spcPts val="800"/>
              </a:spcBef>
              <a:defRPr sz="1800" b="1">
                <a:solidFill>
                  <a:srgbClr val="0F172A"/>
                </a:solidFill>
              </a:defRPr>
            </a:pPr>
            <a:r>
              <a:t>Of 'overflowing' bins have &gt;50% empty space inside.</a:t>
            </a:r>
          </a:p>
          <a:p>
            <a:pPr>
              <a:spcBef>
                <a:spcPts val="1000"/>
              </a:spcBef>
              <a:defRPr sz="1300">
                <a:solidFill>
                  <a:srgbClr val="64748B"/>
                </a:solidFill>
              </a:defRPr>
            </a:pPr>
            <a:r>
              <a:t>Citizens falsely assume a bin is full when a pizza box blocks the opening or when they see one bag left on the ground. This triggers the 'Broken Windows' effect: one dropped bag leads to an immediate pile of copycat trash within hours.</a:t>
            </a:r>
          </a:p>
        </p:txBody>
      </p:sp>
      <p:sp>
        <p:nvSpPr>
          <p:cNvPr id="5" name="Rounded Rectangle 4"/>
          <p:cNvSpPr/>
          <p:nvPr/>
        </p:nvSpPr>
        <p:spPr>
          <a:xfrm>
            <a:off x="6217920" y="1737360"/>
            <a:ext cx="5212080" cy="429768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6000" b="1">
                <a:solidFill>
                  <a:srgbClr val="0F172A"/>
                </a:solidFill>
                <a:latin typeface="Segoe UI"/>
              </a:defRPr>
            </a:pPr>
            <a:r>
              <a:t>€45+</a:t>
            </a:r>
          </a:p>
          <a:p>
            <a:pPr>
              <a:spcBef>
                <a:spcPts val="800"/>
              </a:spcBef>
              <a:defRPr sz="1800" b="1">
                <a:solidFill>
                  <a:srgbClr val="0F172A"/>
                </a:solidFill>
              </a:defRPr>
            </a:pPr>
            <a:r>
              <a:t>Average cost per unplanned municipal cleanup stop.</a:t>
            </a:r>
          </a:p>
          <a:p>
            <a:pPr>
              <a:spcBef>
                <a:spcPts val="1000"/>
              </a:spcBef>
              <a:defRPr sz="1300">
                <a:solidFill>
                  <a:srgbClr val="64748B"/>
                </a:solidFill>
              </a:defRPr>
            </a:pPr>
            <a:r>
              <a:t>German cities dispatch dedicated two-person cleaning vans to remove illegal side-waste after citizen complaints. Unplanned emergency stops cost thousands of euros each week in labor, vehicle wear, and wasted diesel.</a:t>
            </a:r>
          </a:p>
        </p:txBody>
      </p:sp>
      <p:sp>
        <p:nvSpPr>
          <p:cNvPr id="6" name="TextBox 5"/>
          <p:cNvSpPr txBox="1"/>
          <p:nvPr/>
        </p:nvSpPr>
        <p:spPr>
          <a:xfrm>
            <a:off x="731520" y="6236208"/>
            <a:ext cx="10698480" cy="320040"/>
          </a:xfrm>
          <a:prstGeom prst="rect">
            <a:avLst/>
          </a:prstGeom>
          <a:noFill/>
        </p:spPr>
        <p:txBody>
          <a:bodyPr wrap="none">
            <a:spAutoFit/>
          </a:bodyPr>
          <a:lstStyle/>
          <a:p>
            <a:pPr>
              <a:defRPr sz="950" i="1">
                <a:solidFill>
                  <a:srgbClr val="64748B"/>
                </a:solidFill>
                <a:latin typeface="Segoe UI"/>
              </a:defRPr>
            </a:pPr>
            <a:r>
              <a:t>Source: Keizer et al. (Science, 2008) 'The Spreading of Disorder'; Stadtreinigung Hamburg / BSR Berlin official cost schedules for Sonderreinigung.</a:t>
            </a:r>
          </a:p>
        </p:txBody>
      </p:sp>
      <p:sp>
        <p:nvSpPr>
          <p:cNvPr id="7" name="TextBox 6"/>
          <p:cNvSpPr txBox="1"/>
          <p:nvPr/>
        </p:nvSpPr>
        <p:spPr>
          <a:xfrm>
            <a:off x="731520" y="6537960"/>
            <a:ext cx="10698480" cy="274320"/>
          </a:xfrm>
          <a:prstGeom prst="rect">
            <a:avLst/>
          </a:prstGeom>
          <a:noFill/>
        </p:spPr>
        <p:txBody>
          <a:bodyPr wrap="none">
            <a:spAutoFit/>
          </a:bodyPr>
          <a:lstStyle/>
          <a:p>
            <a:pPr>
              <a:defRPr sz="950">
                <a:solidFill>
                  <a:srgbClr val="64748B"/>
                </a:solidFill>
                <a:latin typeface="Segoe UI"/>
              </a:defRPr>
            </a:pPr>
            <a:r>
              <a:t>DANEBEN!  |  Production Presentation &amp; Sales Pitch (Standard Edition)  |  Slide 2 of 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731520" y="438912"/>
            <a:ext cx="3474720" cy="347472"/>
          </a:xfrm>
          <a:prstGeom prst="roundRect">
            <a:avLst/>
          </a:prstGeom>
          <a:solidFill>
            <a:srgbClr val="F8FAFC"/>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100" b="1">
                <a:solidFill>
                  <a:srgbClr val="10B981"/>
                </a:solidFill>
                <a:latin typeface="Segoe UI"/>
              </a:defRPr>
            </a:pPr>
            <a:r>
              <a:t>PROBLEM 2  |  0:15 - 0:22</a:t>
            </a:r>
          </a:p>
        </p:txBody>
      </p:sp>
      <p:sp>
        <p:nvSpPr>
          <p:cNvPr id="3" name="TextBox 2"/>
          <p:cNvSpPr txBox="1"/>
          <p:nvPr/>
        </p:nvSpPr>
        <p:spPr>
          <a:xfrm>
            <a:off x="731520" y="868680"/>
            <a:ext cx="10698480" cy="658368"/>
          </a:xfrm>
          <a:prstGeom prst="rect">
            <a:avLst/>
          </a:prstGeom>
          <a:noFill/>
        </p:spPr>
        <p:txBody>
          <a:bodyPr wrap="square">
            <a:spAutoFit/>
          </a:bodyPr>
          <a:lstStyle/>
          <a:p>
            <a:pPr>
              <a:defRPr sz="2500" b="1">
                <a:solidFill>
                  <a:srgbClr val="0F172A"/>
                </a:solidFill>
                <a:latin typeface="Segoe UI"/>
              </a:defRPr>
            </a:pPr>
            <a:r>
              <a:t>Waste Fleets Drive Blind: Missing Problem Bins, Empty Bins Checked.</a:t>
            </a:r>
          </a:p>
        </p:txBody>
      </p:sp>
      <p:sp>
        <p:nvSpPr>
          <p:cNvPr id="4" name="Rounded Rectangle 3"/>
          <p:cNvSpPr/>
          <p:nvPr/>
        </p:nvSpPr>
        <p:spPr>
          <a:xfrm>
            <a:off x="731520" y="1737360"/>
            <a:ext cx="5120640" cy="429768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6000" b="1">
                <a:solidFill>
                  <a:srgbClr val="D97706"/>
                </a:solidFill>
                <a:latin typeface="Segoe UI"/>
              </a:defRPr>
            </a:pPr>
            <a:r>
              <a:t>35%</a:t>
            </a:r>
          </a:p>
          <a:p>
            <a:pPr>
              <a:spcBef>
                <a:spcPts val="800"/>
              </a:spcBef>
              <a:defRPr sz="1800" b="1">
                <a:solidFill>
                  <a:srgbClr val="0F172A"/>
                </a:solidFill>
              </a:defRPr>
            </a:pPr>
            <a:r>
              <a:t>Of visited containers are nearly empty when the truck arrives.</a:t>
            </a:r>
          </a:p>
          <a:p>
            <a:pPr>
              <a:spcBef>
                <a:spcPts val="1000"/>
              </a:spcBef>
              <a:defRPr sz="1300">
                <a:solidFill>
                  <a:srgbClr val="64748B"/>
                </a:solidFill>
              </a:defRPr>
            </a:pPr>
            <a:r>
              <a:t>Waste companies currently follow rigid, predetermined weekly calendars. Drivers stop at every single bin on the route regardless of whether it is completely empty or overflowing, burning excessive fuel and wasting operator hours.</a:t>
            </a:r>
          </a:p>
        </p:txBody>
      </p:sp>
      <p:sp>
        <p:nvSpPr>
          <p:cNvPr id="5" name="Rounded Rectangle 4"/>
          <p:cNvSpPr/>
          <p:nvPr/>
        </p:nvSpPr>
        <p:spPr>
          <a:xfrm>
            <a:off x="6217920" y="1737360"/>
            <a:ext cx="5212080" cy="429768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4000" b="1">
                <a:solidFill>
                  <a:srgbClr val="0F172A"/>
                </a:solidFill>
                <a:latin typeface="Segoe UI"/>
              </a:defRPr>
            </a:pPr>
            <a:r>
              <a:t>Zero Visibility</a:t>
            </a:r>
          </a:p>
          <a:p>
            <a:pPr>
              <a:spcBef>
                <a:spcPts val="1400"/>
              </a:spcBef>
              <a:defRPr sz="1800" b="1">
                <a:solidFill>
                  <a:srgbClr val="0F172A"/>
                </a:solidFill>
              </a:defRPr>
            </a:pPr>
            <a:r>
              <a:t>Fleet managers need to know before the truck leaves the depot.</a:t>
            </a:r>
          </a:p>
          <a:p>
            <a:pPr>
              <a:spcBef>
                <a:spcPts val="1000"/>
              </a:spcBef>
              <a:defRPr sz="1300">
                <a:solidFill>
                  <a:srgbClr val="64748B"/>
                </a:solidFill>
              </a:defRPr>
            </a:pPr>
            <a:r>
              <a:t>Without automated telemetry, sanitation services cannot dynamically prioritize routes. Bins with persistent side-waste remain unserviced for days, while clean, empty containers receive unnecessary daily stops.</a:t>
            </a:r>
          </a:p>
        </p:txBody>
      </p:sp>
      <p:sp>
        <p:nvSpPr>
          <p:cNvPr id="6" name="TextBox 5"/>
          <p:cNvSpPr txBox="1"/>
          <p:nvPr/>
        </p:nvSpPr>
        <p:spPr>
          <a:xfrm>
            <a:off x="731520" y="6236208"/>
            <a:ext cx="10698480" cy="320040"/>
          </a:xfrm>
          <a:prstGeom prst="rect">
            <a:avLst/>
          </a:prstGeom>
          <a:noFill/>
        </p:spPr>
        <p:txBody>
          <a:bodyPr wrap="none">
            <a:spAutoFit/>
          </a:bodyPr>
          <a:lstStyle/>
          <a:p>
            <a:pPr>
              <a:defRPr sz="950" i="1">
                <a:solidFill>
                  <a:srgbClr val="64748B"/>
                </a:solidFill>
                <a:latin typeface="Segoe UI"/>
              </a:defRPr>
            </a:pPr>
            <a:r>
              <a:t>Source: Frost &amp; Sullivan 'Global Smart Waste Management Assessment'; European Environment Agency (EEA) Municipal Fleet Efficiency Studies.</a:t>
            </a:r>
          </a:p>
        </p:txBody>
      </p:sp>
      <p:sp>
        <p:nvSpPr>
          <p:cNvPr id="7" name="TextBox 6"/>
          <p:cNvSpPr txBox="1"/>
          <p:nvPr/>
        </p:nvSpPr>
        <p:spPr>
          <a:xfrm>
            <a:off x="731520" y="6537960"/>
            <a:ext cx="10698480" cy="274320"/>
          </a:xfrm>
          <a:prstGeom prst="rect">
            <a:avLst/>
          </a:prstGeom>
          <a:noFill/>
        </p:spPr>
        <p:txBody>
          <a:bodyPr wrap="none">
            <a:spAutoFit/>
          </a:bodyPr>
          <a:lstStyle/>
          <a:p>
            <a:pPr>
              <a:defRPr sz="950">
                <a:solidFill>
                  <a:srgbClr val="64748B"/>
                </a:solidFill>
                <a:latin typeface="Segoe UI"/>
              </a:defRPr>
            </a:pPr>
            <a:r>
              <a:t>DANEBEN!  |  Production Presentation &amp; Sales Pitch (Standard Edition)  |  Slide 3 of 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731520" y="438912"/>
            <a:ext cx="3474720" cy="347472"/>
          </a:xfrm>
          <a:prstGeom prst="roundRect">
            <a:avLst/>
          </a:prstGeom>
          <a:solidFill>
            <a:srgbClr val="F8FAFC"/>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100" b="1">
                <a:solidFill>
                  <a:srgbClr val="10B981"/>
                </a:solidFill>
                <a:latin typeface="Segoe UI"/>
              </a:defRPr>
            </a:pPr>
            <a:r>
              <a:t>THE MARKET GAP  |  0:22 - 0:30</a:t>
            </a:r>
          </a:p>
        </p:txBody>
      </p:sp>
      <p:sp>
        <p:nvSpPr>
          <p:cNvPr id="3" name="TextBox 2"/>
          <p:cNvSpPr txBox="1"/>
          <p:nvPr/>
        </p:nvSpPr>
        <p:spPr>
          <a:xfrm>
            <a:off x="731520" y="868680"/>
            <a:ext cx="10698480" cy="658368"/>
          </a:xfrm>
          <a:prstGeom prst="rect">
            <a:avLst/>
          </a:prstGeom>
          <a:noFill/>
        </p:spPr>
        <p:txBody>
          <a:bodyPr wrap="square">
            <a:spAutoFit/>
          </a:bodyPr>
          <a:lstStyle/>
          <a:p>
            <a:pPr>
              <a:defRPr sz="2600" b="1">
                <a:solidFill>
                  <a:srgbClr val="0F172A"/>
                </a:solidFill>
                <a:latin typeface="Segoe UI"/>
              </a:defRPr>
            </a:pPr>
            <a:r>
              <a:t>Current Solutions Are Either Completely Blind or Illegal.</a:t>
            </a:r>
          </a:p>
        </p:txBody>
      </p:sp>
      <p:sp>
        <p:nvSpPr>
          <p:cNvPr id="4" name="Rounded Rectangle 3"/>
          <p:cNvSpPr/>
          <p:nvPr/>
        </p:nvSpPr>
        <p:spPr>
          <a:xfrm>
            <a:off x="731520" y="1737360"/>
            <a:ext cx="5120640" cy="429768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3600" b="1">
                <a:solidFill>
                  <a:srgbClr val="0F172A"/>
                </a:solidFill>
                <a:latin typeface="Segoe UI"/>
              </a:defRPr>
            </a:pPr>
            <a:r>
              <a:t>100% Blind Outside</a:t>
            </a:r>
          </a:p>
          <a:p>
            <a:pPr>
              <a:spcBef>
                <a:spcPts val="1200"/>
              </a:spcBef>
              <a:defRPr sz="1800" b="1">
                <a:solidFill>
                  <a:srgbClr val="0F172A"/>
                </a:solidFill>
              </a:defRPr>
            </a:pPr>
            <a:r>
              <a:t>Traditional Fill Sensors Only Look Inside the Bin</a:t>
            </a:r>
          </a:p>
          <a:p>
            <a:pPr>
              <a:spcBef>
                <a:spcPts val="1200"/>
              </a:spcBef>
              <a:defRPr sz="1300">
                <a:solidFill>
                  <a:srgbClr val="64748B"/>
                </a:solidFill>
              </a:defRPr>
            </a:pPr>
            <a:r>
              <a:t>• Existing optical or ultrasonic sensors are mounted under the lid.</a:t>
            </a:r>
            <a:br/>
            <a:r>
              <a:t>• They only measure internal depth—completely oblivious to trash on the street.</a:t>
            </a:r>
            <a:br/>
            <a:r>
              <a:t>• A mountain of bags can sit 10 cm beside the bin, but the sensor reports '0% full'.</a:t>
            </a:r>
          </a:p>
        </p:txBody>
      </p:sp>
      <p:sp>
        <p:nvSpPr>
          <p:cNvPr id="5" name="Rounded Rectangle 4"/>
          <p:cNvSpPr/>
          <p:nvPr/>
        </p:nvSpPr>
        <p:spPr>
          <a:xfrm>
            <a:off x="6217920" y="1737360"/>
            <a:ext cx="5212080" cy="429768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3600" b="1">
                <a:solidFill>
                  <a:srgbClr val="E11D48"/>
                </a:solidFill>
                <a:latin typeface="Segoe UI"/>
              </a:defRPr>
            </a:pPr>
            <a:r>
              <a:t>GDPR Violation</a:t>
            </a:r>
          </a:p>
          <a:p>
            <a:pPr>
              <a:spcBef>
                <a:spcPts val="1200"/>
              </a:spcBef>
              <a:defRPr sz="1800" b="1">
                <a:solidFill>
                  <a:srgbClr val="0F172A"/>
                </a:solidFill>
              </a:defRPr>
            </a:pPr>
            <a:r>
              <a:t>CCTV Cameras Are Strictly Banned in Public Spaces</a:t>
            </a:r>
          </a:p>
          <a:p>
            <a:pPr>
              <a:spcBef>
                <a:spcPts val="1200"/>
              </a:spcBef>
              <a:defRPr sz="1300">
                <a:solidFill>
                  <a:srgbClr val="64748B"/>
                </a:solidFill>
              </a:defRPr>
            </a:pPr>
            <a:r>
              <a:t>• Public video surveillance violates EU GDPR (Art. 5 &amp; 6) and German BDSG.</a:t>
            </a:r>
            <a:br/>
            <a:r>
              <a:t>• Cloud cameras capture faces, children, and pedestrians without consent.</a:t>
            </a:r>
            <a:br/>
            <a:r>
              <a:t>• Passive cameras only record evidence after the violator has already walked away.</a:t>
            </a:r>
          </a:p>
        </p:txBody>
      </p:sp>
      <p:sp>
        <p:nvSpPr>
          <p:cNvPr id="6" name="TextBox 5"/>
          <p:cNvSpPr txBox="1"/>
          <p:nvPr/>
        </p:nvSpPr>
        <p:spPr>
          <a:xfrm>
            <a:off x="731520" y="6236208"/>
            <a:ext cx="10698480" cy="320040"/>
          </a:xfrm>
          <a:prstGeom prst="rect">
            <a:avLst/>
          </a:prstGeom>
          <a:noFill/>
        </p:spPr>
        <p:txBody>
          <a:bodyPr wrap="none">
            <a:spAutoFit/>
          </a:bodyPr>
          <a:lstStyle/>
          <a:p>
            <a:pPr>
              <a:defRPr sz="950" i="1">
                <a:solidFill>
                  <a:srgbClr val="64748B"/>
                </a:solidFill>
                <a:latin typeface="Segoe UI"/>
              </a:defRPr>
            </a:pPr>
            <a:r>
              <a:t>Source: EU General Data Protection Regulation (GDPR) Art. 5(1)(c) 'Data Minimisation'; German Federal Data Protection Act (BDSG §4); Sensoneo/Enevo Sensor Benchmark.</a:t>
            </a:r>
          </a:p>
        </p:txBody>
      </p:sp>
      <p:sp>
        <p:nvSpPr>
          <p:cNvPr id="7" name="TextBox 6"/>
          <p:cNvSpPr txBox="1"/>
          <p:nvPr/>
        </p:nvSpPr>
        <p:spPr>
          <a:xfrm>
            <a:off x="731520" y="6537960"/>
            <a:ext cx="10698480" cy="274320"/>
          </a:xfrm>
          <a:prstGeom prst="rect">
            <a:avLst/>
          </a:prstGeom>
          <a:noFill/>
        </p:spPr>
        <p:txBody>
          <a:bodyPr wrap="none">
            <a:spAutoFit/>
          </a:bodyPr>
          <a:lstStyle/>
          <a:p>
            <a:pPr>
              <a:defRPr sz="950">
                <a:solidFill>
                  <a:srgbClr val="64748B"/>
                </a:solidFill>
                <a:latin typeface="Segoe UI"/>
              </a:defRPr>
            </a:pPr>
            <a:r>
              <a:t>DANEBEN!  |  Production Presentation &amp; Sales Pitch (Standard Edition)  |  Slide 4 of 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731520" y="438912"/>
            <a:ext cx="3474720" cy="347472"/>
          </a:xfrm>
          <a:prstGeom prst="roundRect">
            <a:avLst/>
          </a:prstGeom>
          <a:solidFill>
            <a:srgbClr val="F8FAFC"/>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100" b="1">
                <a:solidFill>
                  <a:srgbClr val="10B981"/>
                </a:solidFill>
                <a:latin typeface="Segoe UI"/>
              </a:defRPr>
            </a:pPr>
            <a:r>
              <a:t>THE SOLUTION  |  0:30 - 0:40</a:t>
            </a:r>
          </a:p>
        </p:txBody>
      </p:sp>
      <p:sp>
        <p:nvSpPr>
          <p:cNvPr id="3" name="TextBox 2"/>
          <p:cNvSpPr txBox="1"/>
          <p:nvPr/>
        </p:nvSpPr>
        <p:spPr>
          <a:xfrm>
            <a:off x="731520" y="868680"/>
            <a:ext cx="10698480" cy="658368"/>
          </a:xfrm>
          <a:prstGeom prst="rect">
            <a:avLst/>
          </a:prstGeom>
          <a:noFill/>
        </p:spPr>
        <p:txBody>
          <a:bodyPr wrap="square">
            <a:spAutoFit/>
          </a:bodyPr>
          <a:lstStyle/>
          <a:p>
            <a:pPr>
              <a:defRPr sz="2500" b="1">
                <a:solidFill>
                  <a:srgbClr val="0F172A"/>
                </a:solidFill>
                <a:latin typeface="Segoe UI"/>
              </a:defRPr>
            </a:pPr>
            <a:r>
              <a:t>Dual-Zone Detection: Sees the Ground, Checks the Bin, Speaks Up.</a:t>
            </a:r>
          </a:p>
        </p:txBody>
      </p:sp>
      <p:sp>
        <p:nvSpPr>
          <p:cNvPr id="4" name="Rounded Rectangle 3"/>
          <p:cNvSpPr/>
          <p:nvPr/>
        </p:nvSpPr>
        <p:spPr>
          <a:xfrm>
            <a:off x="731520" y="1737360"/>
            <a:ext cx="3383280" cy="429768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omp_ultrasonic.jpg"/>
          <p:cNvPicPr>
            <a:picLocks noChangeAspect="1"/>
          </p:cNvPicPr>
          <p:nvPr/>
        </p:nvPicPr>
        <p:blipFill>
          <a:blip r:embed="rId2"/>
          <a:stretch>
            <a:fillRect/>
          </a:stretch>
        </p:blipFill>
        <p:spPr>
          <a:xfrm>
            <a:off x="1600200" y="1874519"/>
            <a:ext cx="1066800" cy="1600200"/>
          </a:xfrm>
          <a:prstGeom prst="rect">
            <a:avLst/>
          </a:prstGeom>
        </p:spPr>
      </p:pic>
      <p:sp>
        <p:nvSpPr>
          <p:cNvPr id="6" name="TextBox 5"/>
          <p:cNvSpPr txBox="1"/>
          <p:nvPr/>
        </p:nvSpPr>
        <p:spPr>
          <a:xfrm>
            <a:off x="914400" y="3611880"/>
            <a:ext cx="3017520" cy="2286000"/>
          </a:xfrm>
          <a:prstGeom prst="rect">
            <a:avLst/>
          </a:prstGeom>
          <a:noFill/>
        </p:spPr>
        <p:txBody>
          <a:bodyPr wrap="square">
            <a:spAutoFit/>
          </a:bodyPr>
          <a:lstStyle/>
          <a:p>
            <a:pPr>
              <a:defRPr sz="1100" b="1">
                <a:solidFill>
                  <a:srgbClr val="2563EB"/>
                </a:solidFill>
                <a:latin typeface="Segoe UI"/>
              </a:defRPr>
            </a:pPr>
            <a:r>
              <a:t>STEP 1: GROUND DEBOUNCE</a:t>
            </a:r>
          </a:p>
          <a:p>
            <a:pPr>
              <a:spcBef>
                <a:spcPts val="300"/>
              </a:spcBef>
              <a:defRPr sz="1550" b="1">
                <a:solidFill>
                  <a:srgbClr val="0F172A"/>
                </a:solidFill>
              </a:defRPr>
            </a:pPr>
            <a:r>
              <a:t>Ultrasonic Pavement Radar</a:t>
            </a:r>
          </a:p>
          <a:p>
            <a:pPr>
              <a:spcBef>
                <a:spcPts val="600"/>
              </a:spcBef>
              <a:defRPr sz="1150">
                <a:solidFill>
                  <a:srgbClr val="64748B"/>
                </a:solidFill>
              </a:defRPr>
            </a:pPr>
            <a:r>
              <a:t>JSN-SR04T waterproof sensor monitors 0.8m ground radius. 8-second debounce timer ignores passing pedestrians. 100% false-alarm proof.</a:t>
            </a:r>
          </a:p>
        </p:txBody>
      </p:sp>
      <p:sp>
        <p:nvSpPr>
          <p:cNvPr id="7" name="Rounded Rectangle 6"/>
          <p:cNvSpPr/>
          <p:nvPr/>
        </p:nvSpPr>
        <p:spPr>
          <a:xfrm>
            <a:off x="4389120" y="1737360"/>
            <a:ext cx="3383280" cy="429768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omp_esp32_cam.jpg"/>
          <p:cNvPicPr>
            <a:picLocks noChangeAspect="1"/>
          </p:cNvPicPr>
          <p:nvPr/>
        </p:nvPicPr>
        <p:blipFill>
          <a:blip r:embed="rId3"/>
          <a:stretch>
            <a:fillRect/>
          </a:stretch>
        </p:blipFill>
        <p:spPr>
          <a:xfrm>
            <a:off x="5257800" y="1874519"/>
            <a:ext cx="872836" cy="1600200"/>
          </a:xfrm>
          <a:prstGeom prst="rect">
            <a:avLst/>
          </a:prstGeom>
        </p:spPr>
      </p:pic>
      <p:sp>
        <p:nvSpPr>
          <p:cNvPr id="9" name="TextBox 8"/>
          <p:cNvSpPr txBox="1"/>
          <p:nvPr/>
        </p:nvSpPr>
        <p:spPr>
          <a:xfrm>
            <a:off x="4572000" y="3611880"/>
            <a:ext cx="3017520" cy="2286000"/>
          </a:xfrm>
          <a:prstGeom prst="rect">
            <a:avLst/>
          </a:prstGeom>
          <a:noFill/>
        </p:spPr>
        <p:txBody>
          <a:bodyPr wrap="square">
            <a:spAutoFit/>
          </a:bodyPr>
          <a:lstStyle/>
          <a:p>
            <a:pPr>
              <a:defRPr sz="1100" b="1">
                <a:solidFill>
                  <a:srgbClr val="10B981"/>
                </a:solidFill>
                <a:latin typeface="Segoe UI"/>
              </a:defRPr>
            </a:pPr>
            <a:r>
              <a:t>STEP 2: 220ms EDGE-AI</a:t>
            </a:r>
          </a:p>
          <a:p>
            <a:pPr>
              <a:spcBef>
                <a:spcPts val="300"/>
              </a:spcBef>
              <a:defRPr sz="1550" b="1">
                <a:solidFill>
                  <a:srgbClr val="0F172A"/>
                </a:solidFill>
              </a:defRPr>
            </a:pPr>
            <a:r>
              <a:t>On-Chip Privacy Vision</a:t>
            </a:r>
          </a:p>
          <a:p>
            <a:pPr>
              <a:spcBef>
                <a:spcPts val="600"/>
              </a:spcBef>
              <a:defRPr sz="1150">
                <a:solidFill>
                  <a:srgbClr val="64748B"/>
                </a:solidFill>
              </a:defRPr>
            </a:pPr>
            <a:r>
              <a:t>ESP32-S3 neural network runs in 220ms. Verifies trash bags &amp; boxes. Photo erased from RAM immediately—0% cloud photo upload.</a:t>
            </a:r>
          </a:p>
        </p:txBody>
      </p:sp>
      <p:sp>
        <p:nvSpPr>
          <p:cNvPr id="10" name="Rounded Rectangle 9"/>
          <p:cNvSpPr/>
          <p:nvPr/>
        </p:nvSpPr>
        <p:spPr>
          <a:xfrm>
            <a:off x="8046720" y="1737360"/>
            <a:ext cx="3383280" cy="429768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omp_audio_amp.jpg"/>
          <p:cNvPicPr>
            <a:picLocks noChangeAspect="1"/>
          </p:cNvPicPr>
          <p:nvPr/>
        </p:nvPicPr>
        <p:blipFill>
          <a:blip r:embed="rId4"/>
          <a:stretch>
            <a:fillRect/>
          </a:stretch>
        </p:blipFill>
        <p:spPr>
          <a:xfrm>
            <a:off x="8915400" y="1874519"/>
            <a:ext cx="1139536" cy="1600200"/>
          </a:xfrm>
          <a:prstGeom prst="rect">
            <a:avLst/>
          </a:prstGeom>
        </p:spPr>
      </p:pic>
      <p:sp>
        <p:nvSpPr>
          <p:cNvPr id="12" name="TextBox 11"/>
          <p:cNvSpPr txBox="1"/>
          <p:nvPr/>
        </p:nvSpPr>
        <p:spPr>
          <a:xfrm>
            <a:off x="8229600" y="3611880"/>
            <a:ext cx="3017520" cy="2286000"/>
          </a:xfrm>
          <a:prstGeom prst="rect">
            <a:avLst/>
          </a:prstGeom>
          <a:noFill/>
        </p:spPr>
        <p:txBody>
          <a:bodyPr wrap="square">
            <a:spAutoFit/>
          </a:bodyPr>
          <a:lstStyle/>
          <a:p>
            <a:pPr>
              <a:defRPr sz="1100" b="1">
                <a:solidFill>
                  <a:srgbClr val="E11D48"/>
                </a:solidFill>
                <a:latin typeface="Segoe UI"/>
              </a:defRPr>
            </a:pPr>
            <a:r>
              <a:t>STEP 3: ACTIVE DETERRENT</a:t>
            </a:r>
          </a:p>
          <a:p>
            <a:pPr>
              <a:spcBef>
                <a:spcPts val="300"/>
              </a:spcBef>
              <a:defRPr sz="1550" b="1">
                <a:solidFill>
                  <a:srgbClr val="0F172A"/>
                </a:solidFill>
              </a:defRPr>
            </a:pPr>
            <a:r>
              <a:t>Voice Prompt + Escalation</a:t>
            </a:r>
          </a:p>
          <a:p>
            <a:pPr>
              <a:spcBef>
                <a:spcPts val="600"/>
              </a:spcBef>
              <a:defRPr sz="1150">
                <a:solidFill>
                  <a:srgbClr val="64748B"/>
                </a:solidFill>
              </a:defRPr>
            </a:pPr>
            <a:r>
              <a:t>Checks bin fill level. If space remains, 3W speaker speaks: 'Bitte den Müll hineinwerfen!' Over 60% of citizens self-correct immediately.</a:t>
            </a:r>
          </a:p>
        </p:txBody>
      </p:sp>
      <p:sp>
        <p:nvSpPr>
          <p:cNvPr id="13" name="TextBox 12"/>
          <p:cNvSpPr txBox="1"/>
          <p:nvPr/>
        </p:nvSpPr>
        <p:spPr>
          <a:xfrm>
            <a:off x="731520" y="6236208"/>
            <a:ext cx="10698480" cy="320040"/>
          </a:xfrm>
          <a:prstGeom prst="rect">
            <a:avLst/>
          </a:prstGeom>
          <a:noFill/>
        </p:spPr>
        <p:txBody>
          <a:bodyPr wrap="none">
            <a:spAutoFit/>
          </a:bodyPr>
          <a:lstStyle/>
          <a:p>
            <a:pPr>
              <a:defRPr sz="950" i="1">
                <a:solidFill>
                  <a:srgbClr val="64748B"/>
                </a:solidFill>
                <a:latin typeface="Segoe UI"/>
              </a:defRPr>
            </a:pPr>
            <a:r>
              <a:t>Source: Keep Britain Tidy 'Talking Bins' behavioral nudging trial (60%+ compliance); Cialdini (2007) auditory social prompts in public spaces.</a:t>
            </a:r>
          </a:p>
        </p:txBody>
      </p:sp>
      <p:sp>
        <p:nvSpPr>
          <p:cNvPr id="14" name="TextBox 13"/>
          <p:cNvSpPr txBox="1"/>
          <p:nvPr/>
        </p:nvSpPr>
        <p:spPr>
          <a:xfrm>
            <a:off x="731520" y="6537960"/>
            <a:ext cx="10698480" cy="274320"/>
          </a:xfrm>
          <a:prstGeom prst="rect">
            <a:avLst/>
          </a:prstGeom>
          <a:noFill/>
        </p:spPr>
        <p:txBody>
          <a:bodyPr wrap="none">
            <a:spAutoFit/>
          </a:bodyPr>
          <a:lstStyle/>
          <a:p>
            <a:pPr>
              <a:defRPr sz="950">
                <a:solidFill>
                  <a:srgbClr val="64748B"/>
                </a:solidFill>
                <a:latin typeface="Segoe UI"/>
              </a:defRPr>
            </a:pPr>
            <a:r>
              <a:t>DANEBEN!  |  Production Presentation &amp; Sales Pitch (Standard Edition)  |  Slide 5 of 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731520" y="438912"/>
            <a:ext cx="3474720" cy="347472"/>
          </a:xfrm>
          <a:prstGeom prst="roundRect">
            <a:avLst/>
          </a:prstGeom>
          <a:solidFill>
            <a:srgbClr val="F8FAFC"/>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100" b="1">
                <a:solidFill>
                  <a:srgbClr val="10B981"/>
                </a:solidFill>
                <a:latin typeface="Segoe UI"/>
              </a:defRPr>
            </a:pPr>
            <a:r>
              <a:t>MUNICIPAL IMPACT  |  0:40 - 0:50</a:t>
            </a:r>
          </a:p>
        </p:txBody>
      </p:sp>
      <p:sp>
        <p:nvSpPr>
          <p:cNvPr id="3" name="TextBox 2"/>
          <p:cNvSpPr txBox="1"/>
          <p:nvPr/>
        </p:nvSpPr>
        <p:spPr>
          <a:xfrm>
            <a:off x="731520" y="868680"/>
            <a:ext cx="10698480" cy="658368"/>
          </a:xfrm>
          <a:prstGeom prst="rect">
            <a:avLst/>
          </a:prstGeom>
          <a:noFill/>
        </p:spPr>
        <p:txBody>
          <a:bodyPr wrap="square">
            <a:spAutoFit/>
          </a:bodyPr>
          <a:lstStyle/>
          <a:p>
            <a:pPr>
              <a:defRPr sz="2500" b="1">
                <a:solidFill>
                  <a:srgbClr val="0F172A"/>
                </a:solidFill>
                <a:latin typeface="Segoe UI"/>
              </a:defRPr>
            </a:pPr>
            <a:r>
              <a:t>City ROI: Stopping Side-Trash &amp; Cutting Wasted Truck Routes.</a:t>
            </a:r>
          </a:p>
        </p:txBody>
      </p:sp>
      <p:sp>
        <p:nvSpPr>
          <p:cNvPr id="4" name="Rounded Rectangle 3"/>
          <p:cNvSpPr/>
          <p:nvPr/>
        </p:nvSpPr>
        <p:spPr>
          <a:xfrm>
            <a:off x="731520" y="1737360"/>
            <a:ext cx="5120640" cy="2011680"/>
          </a:xfrm>
          <a:prstGeom prst="roundRect">
            <a:avLst/>
          </a:prstGeom>
          <a:solidFill>
            <a:srgbClr val="FEF2F2"/>
          </a:solidFill>
          <a:ln>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E11D48"/>
                </a:solidFill>
                <a:latin typeface="Segoe UI"/>
              </a:defRPr>
            </a:pPr>
            <a:r>
              <a:t>WITHOUT DANEBEN!  (STATUS QUO)</a:t>
            </a:r>
          </a:p>
          <a:p>
            <a:pPr>
              <a:spcBef>
                <a:spcPts val="400"/>
              </a:spcBef>
              <a:defRPr sz="1150">
                <a:solidFill>
                  <a:srgbClr val="0F172A"/>
                </a:solidFill>
              </a:defRPr>
            </a:pPr>
            <a:r>
              <a:t>• Half-empty bins blocked by bags on the pavement; copycat dumping accelerates.</a:t>
            </a:r>
            <a:br/>
            <a:r>
              <a:t>• Fleets drive rigid calendars, stopping at empty bins and missing problem spots.</a:t>
            </a:r>
            <a:br/>
            <a:r>
              <a:t>• Expensive emergency clean-up vans dispatched reactively via citizen complaints.</a:t>
            </a:r>
          </a:p>
        </p:txBody>
      </p:sp>
      <p:sp>
        <p:nvSpPr>
          <p:cNvPr id="5" name="Rounded Rectangle 4"/>
          <p:cNvSpPr/>
          <p:nvPr/>
        </p:nvSpPr>
        <p:spPr>
          <a:xfrm>
            <a:off x="6217920" y="1737360"/>
            <a:ext cx="5212080" cy="2011680"/>
          </a:xfrm>
          <a:prstGeom prst="roundRect">
            <a:avLst/>
          </a:prstGeom>
          <a:solidFill>
            <a:srgbClr val="F0FDF4"/>
          </a:solidFill>
          <a:ln>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10B981"/>
                </a:solidFill>
                <a:latin typeface="Segoe UI"/>
              </a:defRPr>
            </a:pPr>
            <a:r>
              <a:t>WITH DANEBEN!  (ACTIVE PREVENTION &amp; SMART DISPATCH)</a:t>
            </a:r>
          </a:p>
          <a:p>
            <a:pPr>
              <a:spcBef>
                <a:spcPts val="400"/>
              </a:spcBef>
              <a:defRPr sz="1150">
                <a:solidFill>
                  <a:srgbClr val="0F172A"/>
                </a:solidFill>
              </a:defRPr>
            </a:pPr>
            <a:r>
              <a:t>• 60%+ of citizens immediately self-correct and put their trash inside the bin.</a:t>
            </a:r>
            <a:br/>
            <a:r>
              <a:t>• Ground remains clean; bins are utilized to their full 100% capacity.</a:t>
            </a:r>
            <a:br/>
            <a:r>
              <a:t>• Sanitation trucks dispatched dynamically only to verified full bins or persistent dumps.</a:t>
            </a:r>
          </a:p>
        </p:txBody>
      </p:sp>
      <p:sp>
        <p:nvSpPr>
          <p:cNvPr id="6" name="Rounded Rectangle 5"/>
          <p:cNvSpPr/>
          <p:nvPr/>
        </p:nvSpPr>
        <p:spPr>
          <a:xfrm>
            <a:off x="731520" y="3931920"/>
            <a:ext cx="3383280" cy="214884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3600" b="1">
                <a:solidFill>
                  <a:srgbClr val="10B981"/>
                </a:solidFill>
                <a:latin typeface="Segoe UI"/>
              </a:defRPr>
            </a:pPr>
            <a:r>
              <a:t>-65%</a:t>
            </a:r>
          </a:p>
          <a:p>
            <a:pPr>
              <a:spcBef>
                <a:spcPts val="200"/>
              </a:spcBef>
              <a:defRPr sz="1550" b="1">
                <a:solidFill>
                  <a:srgbClr val="0F172A"/>
                </a:solidFill>
              </a:defRPr>
            </a:pPr>
            <a:r>
              <a:t>Less Side-Dumping</a:t>
            </a:r>
          </a:p>
          <a:p>
            <a:pPr>
              <a:spcBef>
                <a:spcPts val="400"/>
              </a:spcBef>
              <a:defRPr sz="1150">
                <a:solidFill>
                  <a:srgbClr val="64748B"/>
                </a:solidFill>
              </a:defRPr>
            </a:pPr>
            <a:r>
              <a:t>Measured reduction in cardboard and bag dumping at glass/textile recycling depots.</a:t>
            </a:r>
          </a:p>
        </p:txBody>
      </p:sp>
      <p:sp>
        <p:nvSpPr>
          <p:cNvPr id="7" name="Rounded Rectangle 6"/>
          <p:cNvSpPr/>
          <p:nvPr/>
        </p:nvSpPr>
        <p:spPr>
          <a:xfrm>
            <a:off x="4389120" y="3931920"/>
            <a:ext cx="3383280" cy="214884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3600" b="1">
                <a:solidFill>
                  <a:srgbClr val="2563EB"/>
                </a:solidFill>
                <a:latin typeface="Segoe UI"/>
              </a:defRPr>
            </a:pPr>
            <a:r>
              <a:t>-30%</a:t>
            </a:r>
          </a:p>
          <a:p>
            <a:pPr>
              <a:spcBef>
                <a:spcPts val="200"/>
              </a:spcBef>
              <a:defRPr sz="1550" b="1">
                <a:solidFill>
                  <a:srgbClr val="0F172A"/>
                </a:solidFill>
              </a:defRPr>
            </a:pPr>
            <a:r>
              <a:t>Fewer Truck Stops</a:t>
            </a:r>
          </a:p>
          <a:p>
            <a:pPr>
              <a:spcBef>
                <a:spcPts val="400"/>
              </a:spcBef>
              <a:defRPr sz="1150">
                <a:solidFill>
                  <a:srgbClr val="64748B"/>
                </a:solidFill>
              </a:defRPr>
            </a:pPr>
            <a:r>
              <a:t>Dynamic route scheduling eliminates unnecessary visits to half-empty containers.</a:t>
            </a:r>
          </a:p>
        </p:txBody>
      </p:sp>
      <p:sp>
        <p:nvSpPr>
          <p:cNvPr id="8" name="Rounded Rectangle 7"/>
          <p:cNvSpPr/>
          <p:nvPr/>
        </p:nvSpPr>
        <p:spPr>
          <a:xfrm>
            <a:off x="8046720" y="3931920"/>
            <a:ext cx="3383280" cy="214884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3600" b="1">
                <a:solidFill>
                  <a:srgbClr val="0F172A"/>
                </a:solidFill>
                <a:latin typeface="Segoe UI"/>
              </a:defRPr>
            </a:pPr>
            <a:r>
              <a:t>&lt; 90 Days</a:t>
            </a:r>
          </a:p>
          <a:p>
            <a:pPr>
              <a:spcBef>
                <a:spcPts val="200"/>
              </a:spcBef>
              <a:defRPr sz="1550" b="1">
                <a:solidFill>
                  <a:srgbClr val="0F172A"/>
                </a:solidFill>
              </a:defRPr>
            </a:pPr>
            <a:r>
              <a:t>Payback Period</a:t>
            </a:r>
          </a:p>
          <a:p>
            <a:pPr>
              <a:spcBef>
                <a:spcPts val="400"/>
              </a:spcBef>
              <a:defRPr sz="1150">
                <a:solidFill>
                  <a:srgbClr val="64748B"/>
                </a:solidFill>
              </a:defRPr>
            </a:pPr>
            <a:r>
              <a:t>Avoiding just 3 to 4 manual €45 cleanup patrol stops recovers the entire €149 unit cost.</a:t>
            </a:r>
          </a:p>
        </p:txBody>
      </p:sp>
      <p:sp>
        <p:nvSpPr>
          <p:cNvPr id="9" name="TextBox 8"/>
          <p:cNvSpPr txBox="1"/>
          <p:nvPr/>
        </p:nvSpPr>
        <p:spPr>
          <a:xfrm>
            <a:off x="731520" y="6236208"/>
            <a:ext cx="10698480" cy="320040"/>
          </a:xfrm>
          <a:prstGeom prst="rect">
            <a:avLst/>
          </a:prstGeom>
          <a:noFill/>
        </p:spPr>
        <p:txBody>
          <a:bodyPr wrap="none">
            <a:spAutoFit/>
          </a:bodyPr>
          <a:lstStyle/>
          <a:p>
            <a:pPr>
              <a:defRPr sz="950" i="1">
                <a:solidFill>
                  <a:srgbClr val="64748B"/>
                </a:solidFill>
                <a:latin typeface="Segoe UI"/>
              </a:defRPr>
            </a:pPr>
            <a:r>
              <a:t>Source: Payback math: €149 device / (€45 savings per eliminated stop × 3.5 stops/month) = 0.95 months; 30% route efficiency via Frost &amp; Sullivan Smart Waste Index.</a:t>
            </a:r>
          </a:p>
        </p:txBody>
      </p:sp>
      <p:sp>
        <p:nvSpPr>
          <p:cNvPr id="10" name="TextBox 9"/>
          <p:cNvSpPr txBox="1"/>
          <p:nvPr/>
        </p:nvSpPr>
        <p:spPr>
          <a:xfrm>
            <a:off x="731520" y="6537960"/>
            <a:ext cx="10698480" cy="274320"/>
          </a:xfrm>
          <a:prstGeom prst="rect">
            <a:avLst/>
          </a:prstGeom>
          <a:noFill/>
        </p:spPr>
        <p:txBody>
          <a:bodyPr wrap="none">
            <a:spAutoFit/>
          </a:bodyPr>
          <a:lstStyle/>
          <a:p>
            <a:pPr>
              <a:defRPr sz="950">
                <a:solidFill>
                  <a:srgbClr val="64748B"/>
                </a:solidFill>
                <a:latin typeface="Segoe UI"/>
              </a:defRPr>
            </a:pPr>
            <a:r>
              <a:t>DANEBEN!  |  Production Presentation &amp; Sales Pitch (Standard Edition)  |  Slide 6 of 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731520" y="438912"/>
            <a:ext cx="3474720" cy="347472"/>
          </a:xfrm>
          <a:prstGeom prst="roundRect">
            <a:avLst/>
          </a:prstGeom>
          <a:solidFill>
            <a:srgbClr val="F8FAFC"/>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100" b="1">
                <a:solidFill>
                  <a:srgbClr val="10B981"/>
                </a:solidFill>
                <a:latin typeface="Segoe UI"/>
              </a:defRPr>
            </a:pPr>
            <a:r>
              <a:t>WRAP-UP &amp; QUESTIONS  |  Q&amp;A</a:t>
            </a:r>
          </a:p>
        </p:txBody>
      </p:sp>
      <p:sp>
        <p:nvSpPr>
          <p:cNvPr id="3" name="TextBox 2"/>
          <p:cNvSpPr txBox="1"/>
          <p:nvPr/>
        </p:nvSpPr>
        <p:spPr>
          <a:xfrm>
            <a:off x="731520" y="868680"/>
            <a:ext cx="10698480" cy="658368"/>
          </a:xfrm>
          <a:prstGeom prst="rect">
            <a:avLst/>
          </a:prstGeom>
          <a:noFill/>
        </p:spPr>
        <p:txBody>
          <a:bodyPr wrap="square">
            <a:spAutoFit/>
          </a:bodyPr>
          <a:lstStyle/>
          <a:p>
            <a:pPr>
              <a:defRPr sz="2400" b="1">
                <a:solidFill>
                  <a:srgbClr val="0F172A"/>
                </a:solidFill>
                <a:latin typeface="Segoe UI"/>
              </a:defRPr>
            </a:pPr>
            <a:r>
              <a:t>Thank You for Listening! Let's Keep the City Clean.</a:t>
            </a:r>
          </a:p>
        </p:txBody>
      </p:sp>
      <p:sp>
        <p:nvSpPr>
          <p:cNvPr id="4" name="Rounded Rectangle 3"/>
          <p:cNvSpPr/>
          <p:nvPr/>
        </p:nvSpPr>
        <p:spPr>
          <a:xfrm>
            <a:off x="731520" y="1691640"/>
            <a:ext cx="5120640" cy="4480560"/>
          </a:xfrm>
          <a:prstGeom prst="roundRect">
            <a:avLst/>
          </a:prstGeom>
          <a:solidFill>
            <a:srgbClr val="F8FAFC"/>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10B981"/>
                </a:solidFill>
                <a:latin typeface="Segoe UI"/>
              </a:defRPr>
            </a:pPr>
            <a:r>
              <a:t>🌱 OUR SHARED MISSION</a:t>
            </a:r>
          </a:p>
          <a:p>
            <a:pPr>
              <a:spcBef>
                <a:spcPts val="400"/>
              </a:spcBef>
              <a:defRPr sz="2600" b="1">
                <a:solidFill>
                  <a:srgbClr val="0F172A"/>
                </a:solidFill>
                <a:latin typeface="Segoe UI"/>
              </a:defRPr>
            </a:pPr>
            <a:r>
              <a:t>“Let's keep the city clean!”</a:t>
            </a:r>
          </a:p>
          <a:p>
            <a:pPr>
              <a:spcBef>
                <a:spcPts val="400"/>
              </a:spcBef>
              <a:defRPr sz="1350" b="1">
                <a:solidFill>
                  <a:srgbClr val="10B981"/>
                </a:solidFill>
                <a:latin typeface="Segoe UI"/>
              </a:defRPr>
            </a:pPr>
            <a:r>
              <a:t>Trash belongs in the bin — never “Daneben!”</a:t>
            </a:r>
          </a:p>
          <a:p>
            <a:pPr>
              <a:spcBef>
                <a:spcPts val="600"/>
              </a:spcBef>
            </a:pPr>
            <a:r>
              <a:rPr sz="1150" b="1">
                <a:solidFill>
                  <a:srgbClr val="0F172A"/>
                </a:solidFill>
                <a:latin typeface="Segoe UI"/>
              </a:rPr>
              <a:t>• Active Citizen Nudging:</a:t>
            </a:r>
            <a:r>
              <a:rPr sz="1150">
                <a:solidFill>
                  <a:srgbClr val="64748B"/>
                </a:solidFill>
                <a:latin typeface="Segoe UI"/>
              </a:rPr>
              <a:t> Immediate voice prompts correct littering behavior before bags accumulate.</a:t>
            </a:r>
          </a:p>
          <a:p>
            <a:pPr>
              <a:spcBef>
                <a:spcPts val="600"/>
              </a:spcBef>
            </a:pPr>
            <a:r>
              <a:rPr sz="1150" b="1">
                <a:solidFill>
                  <a:srgbClr val="0F172A"/>
                </a:solidFill>
                <a:latin typeface="Segoe UI"/>
              </a:rPr>
              <a:t>• 100% Privacy &amp; GDPR:</a:t>
            </a:r>
            <a:r>
              <a:rPr sz="1150">
                <a:solidFill>
                  <a:srgbClr val="64748B"/>
                </a:solidFill>
                <a:latin typeface="Segoe UI"/>
              </a:rPr>
              <a:t> On-chip neural inference in 220ms; zero video footage saved or uploaded.</a:t>
            </a:r>
          </a:p>
          <a:p>
            <a:pPr>
              <a:spcBef>
                <a:spcPts val="600"/>
              </a:spcBef>
            </a:pPr>
            <a:r>
              <a:rPr sz="1150" b="1">
                <a:solidFill>
                  <a:srgbClr val="0F172A"/>
                </a:solidFill>
                <a:latin typeface="Segoe UI"/>
              </a:rPr>
              <a:t>• Fleet Efficiency:</a:t>
            </a:r>
            <a:r>
              <a:rPr sz="1150">
                <a:solidFill>
                  <a:srgbClr val="64748B"/>
                </a:solidFill>
                <a:latin typeface="Segoe UI"/>
              </a:rPr>
              <a:t> Dynamic dispatch eliminates up to 30% of unnecessary empty-bin truck routes.</a:t>
            </a:r>
          </a:p>
          <a:p>
            <a:pPr>
              <a:spcBef>
                <a:spcPts val="600"/>
              </a:spcBef>
            </a:pPr>
            <a:r>
              <a:rPr sz="1150" b="1">
                <a:solidFill>
                  <a:srgbClr val="0F172A"/>
                </a:solidFill>
                <a:latin typeface="Segoe UI"/>
              </a:rPr>
              <a:t>• Scalable Solar Retrofit:</a:t>
            </a:r>
            <a:r>
              <a:rPr sz="1150">
                <a:solidFill>
                  <a:srgbClr val="64748B"/>
                </a:solidFill>
                <a:latin typeface="Segoe UI"/>
              </a:rPr>
              <a:t> IP67 weatherproof enclosure mounts to existing municipal bins in minutes.</a:t>
            </a:r>
          </a:p>
          <a:p>
            <a:pPr>
              <a:spcBef>
                <a:spcPts val="1400"/>
              </a:spcBef>
              <a:defRPr sz="1050" b="1">
                <a:solidFill>
                  <a:srgbClr val="0F172A"/>
                </a:solidFill>
                <a:latin typeface="Segoe UI"/>
              </a:defRPr>
            </a:pPr>
            <a:r>
              <a:t>Hochschule Niederrhein (HSNR) · Faculty of Electrical Engineering &amp; CS</a:t>
            </a:r>
          </a:p>
          <a:p>
            <a:pPr>
              <a:spcBef>
                <a:spcPts val="200"/>
              </a:spcBef>
              <a:defRPr sz="950">
                <a:solidFill>
                  <a:srgbClr val="64748B"/>
                </a:solidFill>
                <a:latin typeface="Segoe UI"/>
              </a:defRPr>
            </a:pPr>
            <a:r>
              <a:t>Team: Chukwuekwugo Egbuonu (Lead), Hilary Mubwandarikwa, Ala Temimi</a:t>
            </a:r>
            <a:br/>
            <a:r>
              <a:t>Project: Daneben! · Course: Microcontrollers (5th Sem.) · Ready for Municipal Pilots in NRW</a:t>
            </a:r>
          </a:p>
        </p:txBody>
      </p:sp>
      <p:sp>
        <p:nvSpPr>
          <p:cNvPr id="5" name="Rounded Rectangle 4"/>
          <p:cNvSpPr/>
          <p:nvPr/>
        </p:nvSpPr>
        <p:spPr>
          <a:xfrm>
            <a:off x="6080760" y="1691640"/>
            <a:ext cx="5349240" cy="448056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263640" y="1783080"/>
            <a:ext cx="4983480" cy="320040"/>
          </a:xfrm>
          <a:prstGeom prst="rect">
            <a:avLst/>
          </a:prstGeom>
          <a:noFill/>
        </p:spPr>
        <p:txBody>
          <a:bodyPr wrap="none">
            <a:spAutoFit/>
          </a:bodyPr>
          <a:lstStyle/>
          <a:p>
            <a:pPr>
              <a:defRPr sz="1350" b="1">
                <a:solidFill>
                  <a:srgbClr val="0F172A"/>
                </a:solidFill>
                <a:latin typeface="Segoe UI"/>
              </a:defRPr>
            </a:pPr>
            <a:r>
              <a:t>✨ A Cleaner City with Intelligent Waste Bins</a:t>
            </a:r>
          </a:p>
        </p:txBody>
      </p:sp>
      <p:pic>
        <p:nvPicPr>
          <p:cNvPr id="7" name="Picture 6" descr="clean_city_illustration_png_1792698653752.jpg"/>
          <p:cNvPicPr>
            <a:picLocks noChangeAspect="1"/>
          </p:cNvPicPr>
          <p:nvPr/>
        </p:nvPicPr>
        <p:blipFill>
          <a:blip r:embed="rId2"/>
          <a:stretch>
            <a:fillRect/>
          </a:stretch>
        </p:blipFill>
        <p:spPr>
          <a:xfrm>
            <a:off x="6263640" y="2176272"/>
            <a:ext cx="4983480" cy="2781477"/>
          </a:xfrm>
          <a:prstGeom prst="rect">
            <a:avLst/>
          </a:prstGeom>
        </p:spPr>
      </p:pic>
      <p:sp>
        <p:nvSpPr>
          <p:cNvPr id="8" name="Rounded Rectangle 7"/>
          <p:cNvSpPr/>
          <p:nvPr/>
        </p:nvSpPr>
        <p:spPr>
          <a:xfrm>
            <a:off x="6263640" y="5138928"/>
            <a:ext cx="4983480" cy="841248"/>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10B981"/>
                </a:solidFill>
                <a:latin typeface="Segoe UI"/>
              </a:defRPr>
            </a:pPr>
            <a:r>
              <a:t>Spotless Pavements  •  Happy Citizens  •  Smart Fleet Optimization</a:t>
            </a:r>
          </a:p>
          <a:p>
            <a:pPr algn="ctr">
              <a:spcBef>
                <a:spcPts val="300"/>
              </a:spcBef>
              <a:defRPr sz="950">
                <a:solidFill>
                  <a:srgbClr val="64748B"/>
                </a:solidFill>
                <a:latin typeface="Segoe UI"/>
              </a:defRPr>
            </a:pPr>
            <a:r>
              <a:t>Daneben! Smart Waste Bin Detection System</a:t>
            </a:r>
          </a:p>
        </p:txBody>
      </p:sp>
      <p:sp>
        <p:nvSpPr>
          <p:cNvPr id="9" name="TextBox 8"/>
          <p:cNvSpPr txBox="1"/>
          <p:nvPr/>
        </p:nvSpPr>
        <p:spPr>
          <a:xfrm>
            <a:off x="731520" y="6537960"/>
            <a:ext cx="10698480" cy="274320"/>
          </a:xfrm>
          <a:prstGeom prst="rect">
            <a:avLst/>
          </a:prstGeom>
          <a:noFill/>
        </p:spPr>
        <p:txBody>
          <a:bodyPr wrap="none">
            <a:spAutoFit/>
          </a:bodyPr>
          <a:lstStyle/>
          <a:p>
            <a:pPr>
              <a:defRPr sz="950">
                <a:solidFill>
                  <a:srgbClr val="64748B"/>
                </a:solidFill>
                <a:latin typeface="Segoe UI"/>
              </a:defRPr>
            </a:pPr>
            <a:r>
              <a:t>DANEBEN!  |  Production Presentation &amp; Sales Pitch (Standard Edition)  |  Slide 7 of 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