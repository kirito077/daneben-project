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[0:00 - 0:08 | 8 Sekunden]</a:t>
            </a:r>
          </a:p>
          <a:p>
            <a:r>
              <a:t>"Jede Stadt leidet unter Müllbergen neben öffentlichen Abfalleimern. Wir sind das Team der Hochschule Niederrhein – Chukwuekwugo Egbuonu, Hilary Mubwandarikwa und Ala Temimi – und haben 'Daneben!' entwickelt – das erste solarbetriebene Edge-AI Nachrüstmodul, das wilde Müllablagerungen in Echtzeit erkennt, den internen Füllstand prüft und aktiv interveniert, bevor die Person weitergeht."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[0:08 - 0:15 | 7 Sekunden]</a:t>
            </a:r>
          </a:p>
          <a:p>
            <a:r>
              <a:t>"Hier ist das erste Problem: Über 40% aller als überfüllt gemeldeten Mülleimer haben innen noch massig Platz! Ein einzelner Pizzakarton oder eine abgestellte Tasche löst den Broken-Windows-Effekt aus, erzeugt wilde Müllberge und kostet die Stadt jedes Mal 45 Euro für die Sonderreinigung."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[0:15 - 0:22 | 7 Sekunden]</a:t>
            </a:r>
          </a:p>
          <a:p>
            <a:r>
              <a:t>"Problem Nummer zwei: Müllfahrzeuge fahren jeden Morgen starre, blinde Routen. Über 35% der Stopps erfolgen an Behältern, die gar nicht geleert werden müssten, während überquellende Brennpunkte übersehen werden. Kommunen brauchen automatisierte Echtzeit-Daten, bevor das Fahrzeug das Depot verlässt."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[0:22 - 0:30 | 8 Sekunden]</a:t>
            </a:r>
          </a:p>
          <a:p>
            <a:r>
              <a:t>"Warum können Städte das heute nicht lösen? Klassische Sensoren schauen nur in den Eimer hinein und sind für Müll auf dem Pflaster völlig blind. Und Überwachungskameras sind nach deutschem und europäischem Datenschutzrecht im öffentlichen Raum streng verboten. Kommunen brauchen ein intelligentes, datenschutzkonformes System, das sofort interveniert."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[0:30 - 0:40 | 10 Sekunden]</a:t>
            </a:r>
          </a:p>
          <a:p>
            <a:r>
              <a:t>"'Daneben!' interveniert aktiv in unter 3 Sekunden: Zuerst erkennt unser wasserdichter Ultraschallsensor ruhende Objekte und blendet Passanten aus. Zweitens analysiert der ESP32-S3 in 220 Millisekunden das Bild auf Müll – und löscht es sofort aus dem RAM, zu 100% DSGVO-konform. Drittens: Ist im Behälter noch Platz, bittet eine freundliche Stimme: 'Bitte den Müll hineinwerfen!' Über 60% der Bürger lenken sofort ein."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[0:48 - 0:54 | 6 Sekunden]</a:t>
            </a:r>
          </a:p>
          <a:p>
            <a:r>
              <a:t>"Der Mehrwert für Kommunen ist messbar: Städte reduzieren wilde Müllablagerungen um 65% und streichen 30% überflüssiger Anfahrten. Weil bereits drei vermiedene Sonderreinigungs-Einsätze die gesamten Anschaffungskosten decken, amortisiert sich das Gerät in unter 90 Tagen."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[Fazit &amp; Fragen]</a:t>
            </a:r>
          </a:p>
          <a:p>
            <a:r>
              <a:t>"Vielen Dank für Ihre Aufmerksamkeit und fürs Zuhören! Unsere Vision mit Daneben! ist klar: Halten wir unsere Stadt gemeinsam sauber! Durch die Verbindung aus akustischem Vor-Ort-Nudging, datenschutzkonformer Edge-KI und intelligenter Flottensteuerung lösen wir das Beistellmüll-Problem an der Wurzel. Wir freuen uns nun auf Ihre Fragen und die Diskussion zu unserem NRW-Pilotprojekt."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05840"/>
            <a:ext cx="6217920" cy="1188720"/>
          </a:xfrm>
          <a:prstGeom prst="rect">
            <a:avLst/>
          </a:prstGeom>
          <a:noFill/>
        </p:spPr>
        <p:txBody>
          <a:bodyPr wrap="none">
            <a:spAutoFit/>
          </a:bodyPr>
          <a:lstStyle/>
          <a:p>
            <a:pPr>
              <a:defRPr sz="5400" b="1">
                <a:solidFill>
                  <a:srgbClr val="10B981"/>
                </a:solidFill>
                <a:latin typeface="Segoe UI"/>
              </a:defRPr>
            </a:pPr>
            <a:r>
              <a:t>DANEBEN!</a:t>
            </a:r>
          </a:p>
        </p:txBody>
      </p:sp>
      <p:sp>
        <p:nvSpPr>
          <p:cNvPr id="3" name="TextBox 2"/>
          <p:cNvSpPr txBox="1"/>
          <p:nvPr/>
        </p:nvSpPr>
        <p:spPr>
          <a:xfrm>
            <a:off x="731520" y="2103120"/>
            <a:ext cx="6217920" cy="1280160"/>
          </a:xfrm>
          <a:prstGeom prst="rect">
            <a:avLst/>
          </a:prstGeom>
          <a:noFill/>
        </p:spPr>
        <p:txBody>
          <a:bodyPr wrap="square">
            <a:spAutoFit/>
          </a:bodyPr>
          <a:lstStyle/>
          <a:p>
            <a:pPr>
              <a:defRPr sz="2300" b="1">
                <a:solidFill>
                  <a:srgbClr val="0F172A"/>
                </a:solidFill>
                <a:latin typeface="Segoe UI"/>
              </a:defRPr>
            </a:pPr>
            <a:r>
              <a:t>Smarte Müllerkennung &amp; aktive Verhaltenslenkung</a:t>
            </a:r>
          </a:p>
          <a:p>
            <a:pPr>
              <a:spcBef>
                <a:spcPts val="800"/>
              </a:spcBef>
              <a:defRPr sz="1450">
                <a:solidFill>
                  <a:srgbClr val="64748B"/>
                </a:solidFill>
                <a:latin typeface="Segoe UI"/>
              </a:defRPr>
            </a:pPr>
            <a:r>
              <a:t>Das erste DSGVO-konforme Edge-AI Nachrüstsystem, das wilde Müllablagerungen verhindert, bevor Bürger weitergehen.</a:t>
            </a:r>
          </a:p>
        </p:txBody>
      </p:sp>
      <p:sp>
        <p:nvSpPr>
          <p:cNvPr id="4" name="Rounded Rectangle 3"/>
          <p:cNvSpPr/>
          <p:nvPr/>
        </p:nvSpPr>
        <p:spPr>
          <a:xfrm>
            <a:off x="731520" y="4114800"/>
            <a:ext cx="6263640" cy="17373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latin typeface="Segoe UI"/>
              </a:defRPr>
            </a:pPr>
            <a:r>
              <a:t>PROJEKTTEAM &amp; PRÄSENTATOREN</a:t>
            </a:r>
          </a:p>
          <a:p>
            <a:pPr>
              <a:spcBef>
                <a:spcPts val="400"/>
              </a:spcBef>
              <a:defRPr sz="1200" b="1">
                <a:solidFill>
                  <a:srgbClr val="0F172A"/>
                </a:solidFill>
                <a:latin typeface="Segoe UI"/>
              </a:defRPr>
            </a:pPr>
            <a:r>
              <a:t>Projektleitung: Chukwuekwugo Egbuonu   |   Team: Hilary Mubwandarikwa, Ala Temimi</a:t>
            </a:r>
          </a:p>
          <a:p>
            <a:pPr>
              <a:spcBef>
                <a:spcPts val="400"/>
              </a:spcBef>
              <a:defRPr sz="1150">
                <a:solidFill>
                  <a:srgbClr val="64748B"/>
                </a:solidFill>
                <a:latin typeface="Segoe UI"/>
              </a:defRPr>
            </a:pPr>
            <a:r>
              <a:t>Hochschule Niederrhein (HSNR)  ·  Fachbereich Elektrotechnik &amp; Informatik</a:t>
            </a:r>
          </a:p>
          <a:p>
            <a:pPr>
              <a:defRPr sz="1100">
                <a:solidFill>
                  <a:srgbClr val="64748B"/>
                </a:solidFill>
                <a:latin typeface="Segoe UI"/>
              </a:defRPr>
            </a:pPr>
            <a:r>
              <a:t>Modul: Mikrocontroller (5. Semester)  ·  Produktions-Pitch &amp; Wirtschaftlichkeitsanalyse</a:t>
            </a:r>
          </a:p>
        </p:txBody>
      </p:sp>
      <p:pic>
        <p:nvPicPr>
          <p:cNvPr id="5" name="Picture 4" descr="daneben_exterior_3d_1791312330921.jpg"/>
          <p:cNvPicPr>
            <a:picLocks noChangeAspect="1"/>
          </p:cNvPicPr>
          <p:nvPr/>
        </p:nvPicPr>
        <p:blipFill>
          <a:blip r:embed="rId3"/>
          <a:stretch>
            <a:fillRect/>
          </a:stretch>
        </p:blipFill>
        <p:spPr>
          <a:xfrm>
            <a:off x="7132320" y="914400"/>
            <a:ext cx="4389120" cy="4389120"/>
          </a:xfrm>
          <a:prstGeom prst="rect">
            <a:avLst/>
          </a:prstGeom>
        </p:spPr>
      </p:pic>
      <p:sp>
        <p:nvSpPr>
          <p:cNvPr id="6" name="TextBox 5"/>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1 von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1  |  0:08 - 0:15</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Die Schein-Überfüllung: Nebenabfälle lösen Nachahmungstäter aus.</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E11D48"/>
                </a:solidFill>
                <a:latin typeface="Segoe UI"/>
              </a:defRPr>
            </a:pPr>
            <a:r>
              <a:t>40%</a:t>
            </a:r>
          </a:p>
          <a:p>
            <a:pPr>
              <a:spcBef>
                <a:spcPts val="800"/>
              </a:spcBef>
              <a:defRPr sz="1800" b="1">
                <a:solidFill>
                  <a:srgbClr val="0F172A"/>
                </a:solidFill>
              </a:defRPr>
            </a:pPr>
            <a:r>
              <a:t>Aller vermeintlich „vollen“ Behälter haben &gt;50% freies Volumen.</a:t>
            </a:r>
          </a:p>
          <a:p>
            <a:pPr>
              <a:spcBef>
                <a:spcPts val="1000"/>
              </a:spcBef>
              <a:defRPr sz="1300">
                <a:solidFill>
                  <a:srgbClr val="64748B"/>
                </a:solidFill>
              </a:defRPr>
            </a:pPr>
            <a:r>
              <a:t>Bürger nehmen fälschlicherweise an, ein Mülleimer sei voll, wenn ein Pizzakarton den Schacht blockiert oder eine Tüte daneben steht. Das triggert den „Broken-Windows-Effekt“: Eine einzige abgestellte Tüte führt binnen Stunden zu einem wilden Müllberg.</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0F172A"/>
                </a:solidFill>
                <a:latin typeface="Segoe UI"/>
              </a:defRPr>
            </a:pPr>
            <a:r>
              <a:t>45€ +</a:t>
            </a:r>
          </a:p>
          <a:p>
            <a:pPr>
              <a:spcBef>
                <a:spcPts val="800"/>
              </a:spcBef>
              <a:defRPr sz="1800" b="1">
                <a:solidFill>
                  <a:srgbClr val="0F172A"/>
                </a:solidFill>
              </a:defRPr>
            </a:pPr>
            <a:r>
              <a:t>Durchschnittskosten pro ungeplanter Sonderreinigung.</a:t>
            </a:r>
          </a:p>
          <a:p>
            <a:pPr>
              <a:spcBef>
                <a:spcPts val="1000"/>
              </a:spcBef>
              <a:defRPr sz="1300">
                <a:solidFill>
                  <a:srgbClr val="64748B"/>
                </a:solidFill>
              </a:defRPr>
            </a:pPr>
            <a:r>
              <a:t>Deutsche Kommunen entsenden nach Bürgerbeschwerden zweiköpfige Reinigungsteams zur Beseitigung wilder Müllansammlungen. Diese Notreinigungen kosten Städte wöchentlich tausende Euro an Personaleinsatz, Fahrzeugverschleiß und Diesel.</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Keizer et al. (Science, 2008) „The Spreading of Disorder“; Offizielle Gebührenordnungen der Stadtreinigung Hamburg / BSR Berlin für Sonderreinigungen.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2 von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PROBLEM 2  |  0:15 - 0:22</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Entsorgungsflotten fahren blind: Leere Behälter angefahren, volle übersehen.</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6000" b="1">
                <a:solidFill>
                  <a:srgbClr val="D97706"/>
                </a:solidFill>
                <a:latin typeface="Segoe UI"/>
              </a:defRPr>
            </a:pPr>
            <a:r>
              <a:t>35%</a:t>
            </a:r>
          </a:p>
          <a:p>
            <a:pPr>
              <a:spcBef>
                <a:spcPts val="800"/>
              </a:spcBef>
              <a:defRPr sz="1800" b="1">
                <a:solidFill>
                  <a:srgbClr val="0F172A"/>
                </a:solidFill>
              </a:defRPr>
            </a:pPr>
            <a:r>
              <a:t>Aller angefahrenen Behälter sind bei Eintreffen nahezu leer.</a:t>
            </a:r>
          </a:p>
          <a:p>
            <a:pPr>
              <a:spcBef>
                <a:spcPts val="1000"/>
              </a:spcBef>
              <a:defRPr sz="1300">
                <a:solidFill>
                  <a:srgbClr val="64748B"/>
                </a:solidFill>
              </a:defRPr>
            </a:pPr>
            <a:r>
              <a:t>Kommunale Entsorger fahren nach starren, vordefinierten Wochenplänen. Fahrer halten an jedem einzelnen Behälter – unabhängig davon, ob er völlig leer oder überfüllt ist. Das verbrennt unnötigen Kraftstoff und bindet wertvolle Arbeitszeit.</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Null Transparenz</a:t>
            </a:r>
          </a:p>
          <a:p>
            <a:pPr>
              <a:spcBef>
                <a:spcPts val="1400"/>
              </a:spcBef>
              <a:defRPr sz="1800" b="1">
                <a:solidFill>
                  <a:srgbClr val="0F172A"/>
                </a:solidFill>
              </a:defRPr>
            </a:pPr>
            <a:r>
              <a:t>Flottenleitstellen müssen den Bedarf kennen, bevor der Müllwagen startet.</a:t>
            </a:r>
          </a:p>
          <a:p>
            <a:pPr>
              <a:spcBef>
                <a:spcPts val="1000"/>
              </a:spcBef>
              <a:defRPr sz="1300">
                <a:solidFill>
                  <a:srgbClr val="64748B"/>
                </a:solidFill>
              </a:defRPr>
            </a:pPr>
            <a:r>
              <a:t>Ohne automatisierte Telemetrie können Entsorger Touren nicht dynamisch anpassen. Behälter mit massiven Nebenablagerungen bleiben tagelang unbemerkt, während saubere, leere Behälter täglich sinnlos angefahren werden.</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Frost &amp; Sullivan „Global Smart Waste Management Assessment“; Umweltbundesamt (UBA) &amp; EEA Kommunalflotten-Effizienzstudien.</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3 von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MARKTLÜCKE  |  0:22 - 0:30</a:t>
            </a:r>
          </a:p>
        </p:txBody>
      </p:sp>
      <p:sp>
        <p:nvSpPr>
          <p:cNvPr id="3" name="TextBox 2"/>
          <p:cNvSpPr txBox="1"/>
          <p:nvPr/>
        </p:nvSpPr>
        <p:spPr>
          <a:xfrm>
            <a:off x="731520" y="868680"/>
            <a:ext cx="10698480" cy="658368"/>
          </a:xfrm>
          <a:prstGeom prst="rect">
            <a:avLst/>
          </a:prstGeom>
          <a:noFill/>
        </p:spPr>
        <p:txBody>
          <a:bodyPr wrap="square">
            <a:spAutoFit/>
          </a:bodyPr>
          <a:lstStyle/>
          <a:p>
            <a:pPr>
              <a:defRPr sz="2600" b="1">
                <a:solidFill>
                  <a:srgbClr val="0F172A"/>
                </a:solidFill>
                <a:latin typeface="Segoe UI"/>
              </a:defRPr>
            </a:pPr>
            <a:r>
              <a:t>Bestehende Lösungen sind entweder blind oder rechtlich unzulässig.</a:t>
            </a:r>
          </a:p>
        </p:txBody>
      </p:sp>
      <p:sp>
        <p:nvSpPr>
          <p:cNvPr id="4" name="Rounded Rectangle 3"/>
          <p:cNvSpPr/>
          <p:nvPr/>
        </p:nvSpPr>
        <p:spPr>
          <a:xfrm>
            <a:off x="731520" y="1737360"/>
            <a:ext cx="512064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Außen 100% blind</a:t>
            </a:r>
          </a:p>
          <a:p>
            <a:pPr>
              <a:spcBef>
                <a:spcPts val="1200"/>
              </a:spcBef>
              <a:defRPr sz="1800" b="1">
                <a:solidFill>
                  <a:srgbClr val="0F172A"/>
                </a:solidFill>
              </a:defRPr>
            </a:pPr>
            <a:r>
              <a:t>Klassische Füllstandssensoren messen nur das Innenleben</a:t>
            </a:r>
          </a:p>
          <a:p>
            <a:pPr>
              <a:spcBef>
                <a:spcPts val="1200"/>
              </a:spcBef>
              <a:defRPr sz="1300">
                <a:solidFill>
                  <a:srgbClr val="64748B"/>
                </a:solidFill>
              </a:defRPr>
            </a:pPr>
            <a:r>
              <a:t>• Herkömmliche optische Sensoren oder Ultraschallsensoren sitzen unter dem Deckel.</a:t>
            </a:r>
            <a:br/>
            <a:r>
              <a:t>• Sie erfassen ausschließlich die interne Schachttiefe – Müll auf dem Pflaster wird ignoriert.</a:t>
            </a:r>
            <a:br/>
            <a:r>
              <a:t>• Ein riesiger Müllberg kann 10 cm neben dem Eimer liegen, doch der Sensor meldet „0% voll“.</a:t>
            </a:r>
          </a:p>
        </p:txBody>
      </p:sp>
      <p:sp>
        <p:nvSpPr>
          <p:cNvPr id="5" name="Rounded Rectangle 4"/>
          <p:cNvSpPr/>
          <p:nvPr/>
        </p:nvSpPr>
        <p:spPr>
          <a:xfrm>
            <a:off x="6217920" y="1737360"/>
            <a:ext cx="52120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E11D48"/>
                </a:solidFill>
                <a:latin typeface="Segoe UI"/>
              </a:defRPr>
            </a:pPr>
            <a:r>
              <a:t>DSGVO-Verstoß</a:t>
            </a:r>
          </a:p>
          <a:p>
            <a:pPr>
              <a:spcBef>
                <a:spcPts val="1200"/>
              </a:spcBef>
              <a:defRPr sz="1800" b="1">
                <a:solidFill>
                  <a:srgbClr val="0F172A"/>
                </a:solidFill>
              </a:defRPr>
            </a:pPr>
            <a:r>
              <a:t>Überwachungskameras im öffentlichen Raum sind streng verboten</a:t>
            </a:r>
          </a:p>
          <a:p>
            <a:pPr>
              <a:spcBef>
                <a:spcPts val="1200"/>
              </a:spcBef>
              <a:defRPr sz="1300">
                <a:solidFill>
                  <a:srgbClr val="64748B"/>
                </a:solidFill>
              </a:defRPr>
            </a:pPr>
            <a:r>
              <a:t>• Öffentliche Videoüberwachung verletzt EU-DSGVO (Art. 5 &amp; 6) sowie § 4 BDSG.</a:t>
            </a:r>
            <a:br/>
            <a:r>
              <a:t>• Cloud-Kameras erfassen Gesichter, Passanten und Kinder ohne vorherige Einwilligung.</a:t>
            </a:r>
            <a:br/>
            <a:r>
              <a:t>• Passive Kameras dokumentieren Vergehen erst im Nachhinein – wenn der Verursacher längst weg ist.</a:t>
            </a:r>
          </a:p>
        </p:txBody>
      </p:sp>
      <p:sp>
        <p:nvSpPr>
          <p:cNvPr id="6" name="TextBox 5"/>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EU-Datenschutz-Grundverordnung (DSGVO) Art. 5(1)(c) „Datenminimierung“; Bundesdatenschutzgesetz (BDSG § 4); Sensoneo/Enevo Sensor Benchmark.</a:t>
            </a:r>
          </a:p>
        </p:txBody>
      </p:sp>
      <p:sp>
        <p:nvSpPr>
          <p:cNvPr id="7" name="TextBox 6"/>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4 von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DIE LÖSUNG  |  0:30 - 0:40</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Dual-Zonen-Erkennung: Prüft Pflaster, misst Füllstand, spricht Bürger an.</a:t>
            </a:r>
          </a:p>
        </p:txBody>
      </p:sp>
      <p:sp>
        <p:nvSpPr>
          <p:cNvPr id="4" name="Rounded Rectangle 3"/>
          <p:cNvSpPr/>
          <p:nvPr/>
        </p:nvSpPr>
        <p:spPr>
          <a:xfrm>
            <a:off x="7315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mp_ultrasonic.jpg"/>
          <p:cNvPicPr>
            <a:picLocks noChangeAspect="1"/>
          </p:cNvPicPr>
          <p:nvPr/>
        </p:nvPicPr>
        <p:blipFill>
          <a:blip r:embed="rId2"/>
          <a:stretch>
            <a:fillRect/>
          </a:stretch>
        </p:blipFill>
        <p:spPr>
          <a:xfrm>
            <a:off x="1600200" y="1874519"/>
            <a:ext cx="1066800" cy="1600200"/>
          </a:xfrm>
          <a:prstGeom prst="rect">
            <a:avLst/>
          </a:prstGeom>
        </p:spPr>
      </p:pic>
      <p:sp>
        <p:nvSpPr>
          <p:cNvPr id="6" name="TextBox 5"/>
          <p:cNvSpPr txBox="1"/>
          <p:nvPr/>
        </p:nvSpPr>
        <p:spPr>
          <a:xfrm>
            <a:off x="914400" y="3611880"/>
            <a:ext cx="3017520" cy="2286000"/>
          </a:xfrm>
          <a:prstGeom prst="rect">
            <a:avLst/>
          </a:prstGeom>
          <a:noFill/>
        </p:spPr>
        <p:txBody>
          <a:bodyPr wrap="square">
            <a:spAutoFit/>
          </a:bodyPr>
          <a:lstStyle/>
          <a:p>
            <a:pPr>
              <a:defRPr sz="1100" b="1">
                <a:solidFill>
                  <a:srgbClr val="2563EB"/>
                </a:solidFill>
                <a:latin typeface="Segoe UI"/>
              </a:defRPr>
            </a:pPr>
            <a:r>
              <a:t>SCHRITT 1: BODEN-RADAR</a:t>
            </a:r>
          </a:p>
          <a:p>
            <a:pPr>
              <a:spcBef>
                <a:spcPts val="300"/>
              </a:spcBef>
              <a:defRPr sz="1550" b="1">
                <a:solidFill>
                  <a:srgbClr val="0F172A"/>
                </a:solidFill>
              </a:defRPr>
            </a:pPr>
            <a:r>
              <a:t>Ultraschall-Pflastererfassung</a:t>
            </a:r>
          </a:p>
          <a:p>
            <a:pPr>
              <a:spcBef>
                <a:spcPts val="600"/>
              </a:spcBef>
              <a:defRPr sz="1150">
                <a:solidFill>
                  <a:srgbClr val="64748B"/>
                </a:solidFill>
              </a:defRPr>
            </a:pPr>
            <a:r>
              <a:t>Wasserdichter JSN-SR04T Sensor überwacht 0,8m Bodenradius. 8s-Entprellung filtert vorbeilaufende Fußgänger zuverlässig aus. 100% fehlalarmfrei.</a:t>
            </a:r>
          </a:p>
        </p:txBody>
      </p:sp>
      <p:sp>
        <p:nvSpPr>
          <p:cNvPr id="7" name="Rounded Rectangle 6"/>
          <p:cNvSpPr/>
          <p:nvPr/>
        </p:nvSpPr>
        <p:spPr>
          <a:xfrm>
            <a:off x="43891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_esp32_cam.jpg"/>
          <p:cNvPicPr>
            <a:picLocks noChangeAspect="1"/>
          </p:cNvPicPr>
          <p:nvPr/>
        </p:nvPicPr>
        <p:blipFill>
          <a:blip r:embed="rId3"/>
          <a:stretch>
            <a:fillRect/>
          </a:stretch>
        </p:blipFill>
        <p:spPr>
          <a:xfrm>
            <a:off x="5257800" y="1874519"/>
            <a:ext cx="872836" cy="1600200"/>
          </a:xfrm>
          <a:prstGeom prst="rect">
            <a:avLst/>
          </a:prstGeom>
        </p:spPr>
      </p:pic>
      <p:sp>
        <p:nvSpPr>
          <p:cNvPr id="9" name="TextBox 8"/>
          <p:cNvSpPr txBox="1"/>
          <p:nvPr/>
        </p:nvSpPr>
        <p:spPr>
          <a:xfrm>
            <a:off x="4572000" y="3611880"/>
            <a:ext cx="3017520" cy="2286000"/>
          </a:xfrm>
          <a:prstGeom prst="rect">
            <a:avLst/>
          </a:prstGeom>
          <a:noFill/>
        </p:spPr>
        <p:txBody>
          <a:bodyPr wrap="square">
            <a:spAutoFit/>
          </a:bodyPr>
          <a:lstStyle/>
          <a:p>
            <a:pPr>
              <a:defRPr sz="1100" b="1">
                <a:solidFill>
                  <a:srgbClr val="10B981"/>
                </a:solidFill>
                <a:latin typeface="Segoe UI"/>
              </a:defRPr>
            </a:pPr>
            <a:r>
              <a:t>SCHRITT 2: 220ms EDGE-KI</a:t>
            </a:r>
          </a:p>
          <a:p>
            <a:pPr>
              <a:spcBef>
                <a:spcPts val="300"/>
              </a:spcBef>
              <a:defRPr sz="1550" b="1">
                <a:solidFill>
                  <a:srgbClr val="0F172A"/>
                </a:solidFill>
              </a:defRPr>
            </a:pPr>
            <a:r>
              <a:t>DSGVO-konforme On-Chip-Vision</a:t>
            </a:r>
          </a:p>
          <a:p>
            <a:pPr>
              <a:spcBef>
                <a:spcPts val="600"/>
              </a:spcBef>
              <a:defRPr sz="1150">
                <a:solidFill>
                  <a:srgbClr val="64748B"/>
                </a:solidFill>
              </a:defRPr>
            </a:pPr>
            <a:r>
              <a:t>ESP32-S3 neuronales Netz klassifiziert in 220ms Müllbeutel &amp; Kartons. Bild wird sofort im RAM überschrieben (memset 0x00) – 0% Cloud-Upload.</a:t>
            </a:r>
          </a:p>
        </p:txBody>
      </p:sp>
      <p:sp>
        <p:nvSpPr>
          <p:cNvPr id="10" name="Rounded Rectangle 9"/>
          <p:cNvSpPr/>
          <p:nvPr/>
        </p:nvSpPr>
        <p:spPr>
          <a:xfrm>
            <a:off x="8046720" y="1737360"/>
            <a:ext cx="3383280" cy="42976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omp_audio_amp.jpg"/>
          <p:cNvPicPr>
            <a:picLocks noChangeAspect="1"/>
          </p:cNvPicPr>
          <p:nvPr/>
        </p:nvPicPr>
        <p:blipFill>
          <a:blip r:embed="rId4"/>
          <a:stretch>
            <a:fillRect/>
          </a:stretch>
        </p:blipFill>
        <p:spPr>
          <a:xfrm>
            <a:off x="8915400" y="1874519"/>
            <a:ext cx="1139536" cy="1600200"/>
          </a:xfrm>
          <a:prstGeom prst="rect">
            <a:avLst/>
          </a:prstGeom>
        </p:spPr>
      </p:pic>
      <p:sp>
        <p:nvSpPr>
          <p:cNvPr id="12" name="TextBox 11"/>
          <p:cNvSpPr txBox="1"/>
          <p:nvPr/>
        </p:nvSpPr>
        <p:spPr>
          <a:xfrm>
            <a:off x="8229600" y="3611880"/>
            <a:ext cx="3017520" cy="2286000"/>
          </a:xfrm>
          <a:prstGeom prst="rect">
            <a:avLst/>
          </a:prstGeom>
          <a:noFill/>
        </p:spPr>
        <p:txBody>
          <a:bodyPr wrap="square">
            <a:spAutoFit/>
          </a:bodyPr>
          <a:lstStyle/>
          <a:p>
            <a:pPr>
              <a:defRPr sz="1100" b="1">
                <a:solidFill>
                  <a:srgbClr val="E11D48"/>
                </a:solidFill>
                <a:latin typeface="Segoe UI"/>
              </a:defRPr>
            </a:pPr>
            <a:r>
              <a:t>SCHRITT 3: AKTIVES NUDGING</a:t>
            </a:r>
          </a:p>
          <a:p>
            <a:pPr>
              <a:spcBef>
                <a:spcPts val="300"/>
              </a:spcBef>
              <a:defRPr sz="1550" b="1">
                <a:solidFill>
                  <a:srgbClr val="0F172A"/>
                </a:solidFill>
              </a:defRPr>
            </a:pPr>
            <a:r>
              <a:t>Sprachansprache &amp; Meldung</a:t>
            </a:r>
          </a:p>
          <a:p>
            <a:pPr>
              <a:spcBef>
                <a:spcPts val="600"/>
              </a:spcBef>
              <a:defRPr sz="1150">
                <a:solidFill>
                  <a:srgbClr val="64748B"/>
                </a:solidFill>
              </a:defRPr>
            </a:pPr>
            <a:r>
              <a:t>Prüft Innenfüllstand. Ist noch Platz, bittet der 3W-Lautsprecher: „Bitte den Müll hineinwerfen!“ Über 60% der Bürger korrigieren sich sofort.</a:t>
            </a:r>
          </a:p>
        </p:txBody>
      </p:sp>
      <p:sp>
        <p:nvSpPr>
          <p:cNvPr id="13" name="TextBox 12"/>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Keep Britain Tidy „Talking Bins“-Verhaltensstudie (60%+ Regeleinhaltung); Cialdini (2007) Auditive Nudging-Hinweise im öffentlichen Raum.</a:t>
            </a:r>
          </a:p>
        </p:txBody>
      </p:sp>
      <p:sp>
        <p:nvSpPr>
          <p:cNvPr id="14" name="TextBox 13"/>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5 von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KOMMUNALER NUTZEN  |  0:40 - 0:50</a:t>
            </a:r>
          </a:p>
        </p:txBody>
      </p:sp>
      <p:sp>
        <p:nvSpPr>
          <p:cNvPr id="3" name="TextBox 2"/>
          <p:cNvSpPr txBox="1"/>
          <p:nvPr/>
        </p:nvSpPr>
        <p:spPr>
          <a:xfrm>
            <a:off x="731520" y="868680"/>
            <a:ext cx="10698480" cy="658368"/>
          </a:xfrm>
          <a:prstGeom prst="rect">
            <a:avLst/>
          </a:prstGeom>
          <a:noFill/>
        </p:spPr>
        <p:txBody>
          <a:bodyPr wrap="square">
            <a:spAutoFit/>
          </a:bodyPr>
          <a:lstStyle/>
          <a:p>
            <a:pPr>
              <a:defRPr sz="2400" b="1">
                <a:solidFill>
                  <a:srgbClr val="0F172A"/>
                </a:solidFill>
                <a:latin typeface="Segoe UI"/>
              </a:defRPr>
            </a:pPr>
            <a:r>
              <a:t>Städtischer ROI: Müllberge stoppen &amp; unnötige Touren streichen.</a:t>
            </a:r>
          </a:p>
        </p:txBody>
      </p:sp>
      <p:sp>
        <p:nvSpPr>
          <p:cNvPr id="4" name="Rounded Rectangle 3"/>
          <p:cNvSpPr/>
          <p:nvPr/>
        </p:nvSpPr>
        <p:spPr>
          <a:xfrm>
            <a:off x="731520" y="1737360"/>
            <a:ext cx="5120640" cy="201168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11D48"/>
                </a:solidFill>
                <a:latin typeface="Segoe UI"/>
              </a:defRPr>
            </a:pPr>
            <a:r>
              <a:t>OHNE DANEBEN!  (STATUS QUO)</a:t>
            </a:r>
          </a:p>
          <a:p>
            <a:pPr>
              <a:spcBef>
                <a:spcPts val="400"/>
              </a:spcBef>
              <a:defRPr sz="1150">
                <a:solidFill>
                  <a:srgbClr val="0F172A"/>
                </a:solidFill>
              </a:defRPr>
            </a:pPr>
            <a:r>
              <a:t>• Halbleere Mülleimer durch Beistellungen blockiert; Nachahmungseffekt beschleunigt.</a:t>
            </a:r>
            <a:br/>
            <a:r>
              <a:t>• Entsorger fahren starre Pläne, halten an leeren Eimern und übersehen Müllbrennpunkte.</a:t>
            </a:r>
            <a:br/>
            <a:r>
              <a:t>• Teure Sonderreinigungs-Transporter rücken erst nach Bürgerbeschwerden reaktiv aus.</a:t>
            </a:r>
          </a:p>
        </p:txBody>
      </p:sp>
      <p:sp>
        <p:nvSpPr>
          <p:cNvPr id="5" name="Rounded Rectangle 4"/>
          <p:cNvSpPr/>
          <p:nvPr/>
        </p:nvSpPr>
        <p:spPr>
          <a:xfrm>
            <a:off x="6217920" y="1737360"/>
            <a:ext cx="5212080" cy="2011680"/>
          </a:xfrm>
          <a:prstGeom prst="roundRect">
            <a:avLst/>
          </a:prstGeom>
          <a:solidFill>
            <a:srgbClr val="F0FDF4"/>
          </a:solidFill>
          <a:ln>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MIT DANEBEN!  (PRÄVENTION &amp; SMARTE ROUTEN)</a:t>
            </a:r>
          </a:p>
          <a:p>
            <a:pPr>
              <a:spcBef>
                <a:spcPts val="400"/>
              </a:spcBef>
              <a:defRPr sz="1150">
                <a:solidFill>
                  <a:srgbClr val="0F172A"/>
                </a:solidFill>
              </a:defRPr>
            </a:pPr>
            <a:r>
              <a:t>• &gt;60% der Bürger lenken sofort ein und werfen den Müll korrekt in den Behälter.</a:t>
            </a:r>
            <a:br/>
            <a:r>
              <a:t>• Gehwege bleiben sauber; Mülleimer werden bis zu 100% Volumen ausgenutzt.</a:t>
            </a:r>
            <a:br/>
            <a:r>
              <a:t>• Müllwagen werden dynamisch nur zu vollen Eimern oder echten Müllablagerungen gelenkt.</a:t>
            </a:r>
          </a:p>
        </p:txBody>
      </p:sp>
      <p:sp>
        <p:nvSpPr>
          <p:cNvPr id="6" name="Rounded Rectangle 5"/>
          <p:cNvSpPr/>
          <p:nvPr/>
        </p:nvSpPr>
        <p:spPr>
          <a:xfrm>
            <a:off x="7315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latin typeface="Segoe UI"/>
              </a:defRPr>
            </a:pPr>
            <a:r>
              <a:t>-65%</a:t>
            </a:r>
          </a:p>
          <a:p>
            <a:pPr>
              <a:spcBef>
                <a:spcPts val="200"/>
              </a:spcBef>
              <a:defRPr sz="1550" b="1">
                <a:solidFill>
                  <a:srgbClr val="0F172A"/>
                </a:solidFill>
              </a:defRPr>
            </a:pPr>
            <a:r>
              <a:t>Weniger Nebenabfälle</a:t>
            </a:r>
          </a:p>
          <a:p>
            <a:pPr>
              <a:spcBef>
                <a:spcPts val="400"/>
              </a:spcBef>
              <a:defRPr sz="1150">
                <a:solidFill>
                  <a:srgbClr val="64748B"/>
                </a:solidFill>
              </a:defRPr>
            </a:pPr>
            <a:r>
              <a:t>Gemessene Reduktion wilder Ablagerungen an Glas- und Altkleider-Sammelstellen.</a:t>
            </a:r>
          </a:p>
        </p:txBody>
      </p:sp>
      <p:sp>
        <p:nvSpPr>
          <p:cNvPr id="7" name="Rounded Rectangle 6"/>
          <p:cNvSpPr/>
          <p:nvPr/>
        </p:nvSpPr>
        <p:spPr>
          <a:xfrm>
            <a:off x="43891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563EB"/>
                </a:solidFill>
                <a:latin typeface="Segoe UI"/>
              </a:defRPr>
            </a:pPr>
            <a:r>
              <a:t>-30%</a:t>
            </a:r>
          </a:p>
          <a:p>
            <a:pPr>
              <a:spcBef>
                <a:spcPts val="200"/>
              </a:spcBef>
              <a:defRPr sz="1550" b="1">
                <a:solidFill>
                  <a:srgbClr val="0F172A"/>
                </a:solidFill>
              </a:defRPr>
            </a:pPr>
            <a:r>
              <a:t>Weniger Leerfahrten</a:t>
            </a:r>
          </a:p>
          <a:p>
            <a:pPr>
              <a:spcBef>
                <a:spcPts val="400"/>
              </a:spcBef>
              <a:defRPr sz="1150">
                <a:solidFill>
                  <a:srgbClr val="64748B"/>
                </a:solidFill>
              </a:defRPr>
            </a:pPr>
            <a:r>
              <a:t>Dynamische Tourenplanung eliminiert unnötige Anfahrten halbleerer Behälter.</a:t>
            </a:r>
          </a:p>
        </p:txBody>
      </p:sp>
      <p:sp>
        <p:nvSpPr>
          <p:cNvPr id="8" name="Rounded Rectangle 7"/>
          <p:cNvSpPr/>
          <p:nvPr/>
        </p:nvSpPr>
        <p:spPr>
          <a:xfrm>
            <a:off x="8046720" y="3931920"/>
            <a:ext cx="3383280" cy="21488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0F172A"/>
                </a:solidFill>
                <a:latin typeface="Segoe UI"/>
              </a:defRPr>
            </a:pPr>
            <a:r>
              <a:t>&lt; 90 Tage</a:t>
            </a:r>
          </a:p>
          <a:p>
            <a:pPr>
              <a:spcBef>
                <a:spcPts val="200"/>
              </a:spcBef>
              <a:defRPr sz="1550" b="1">
                <a:solidFill>
                  <a:srgbClr val="0F172A"/>
                </a:solidFill>
              </a:defRPr>
            </a:pPr>
            <a:r>
              <a:t>Amortisationszeit</a:t>
            </a:r>
          </a:p>
          <a:p>
            <a:pPr>
              <a:spcBef>
                <a:spcPts val="400"/>
              </a:spcBef>
              <a:defRPr sz="1150">
                <a:solidFill>
                  <a:srgbClr val="64748B"/>
                </a:solidFill>
              </a:defRPr>
            </a:pPr>
            <a:r>
              <a:t>Bereits 3 bis 4 vermiedene Sonderreinigungen à 45€ decken die 149€ Gerätekosten ab.</a:t>
            </a:r>
          </a:p>
        </p:txBody>
      </p:sp>
      <p:sp>
        <p:nvSpPr>
          <p:cNvPr id="9" name="TextBox 8"/>
          <p:cNvSpPr txBox="1"/>
          <p:nvPr/>
        </p:nvSpPr>
        <p:spPr>
          <a:xfrm>
            <a:off x="731520" y="6236208"/>
            <a:ext cx="10698480" cy="320040"/>
          </a:xfrm>
          <a:prstGeom prst="rect">
            <a:avLst/>
          </a:prstGeom>
          <a:noFill/>
        </p:spPr>
        <p:txBody>
          <a:bodyPr wrap="none">
            <a:spAutoFit/>
          </a:bodyPr>
          <a:lstStyle/>
          <a:p>
            <a:pPr>
              <a:defRPr sz="950" i="1">
                <a:solidFill>
                  <a:srgbClr val="64748B"/>
                </a:solidFill>
                <a:latin typeface="Segoe UI"/>
              </a:defRPr>
            </a:pPr>
            <a:r>
              <a:t>Quelle: Amortisationsrechnung: 149€ Gerätekosten / (45€ Ersparnis je vermiedenem Sondereinsatz × 3,5 Einsätze/Monat) = 0,95 Monate; 30% Flotteneffizienz nach Frost &amp; Sullivan Smart Waste Index.</a:t>
            </a:r>
          </a:p>
        </p:txBody>
      </p:sp>
      <p:sp>
        <p:nvSpPr>
          <p:cNvPr id="10" name="TextBox 9"/>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6 von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438912"/>
            <a:ext cx="3474720" cy="347472"/>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10B981"/>
                </a:solidFill>
                <a:latin typeface="Segoe UI"/>
              </a:defRPr>
            </a:pPr>
            <a:r>
              <a:t>VIELEN DANK &amp; FRAGEN  |  Q&amp;A</a:t>
            </a:r>
          </a:p>
        </p:txBody>
      </p:sp>
      <p:sp>
        <p:nvSpPr>
          <p:cNvPr id="3" name="TextBox 2"/>
          <p:cNvSpPr txBox="1"/>
          <p:nvPr/>
        </p:nvSpPr>
        <p:spPr>
          <a:xfrm>
            <a:off x="731520" y="868680"/>
            <a:ext cx="10698480" cy="658368"/>
          </a:xfrm>
          <a:prstGeom prst="rect">
            <a:avLst/>
          </a:prstGeom>
          <a:noFill/>
        </p:spPr>
        <p:txBody>
          <a:bodyPr wrap="square">
            <a:spAutoFit/>
          </a:bodyPr>
          <a:lstStyle/>
          <a:p>
            <a:pPr>
              <a:defRPr sz="2300" b="1">
                <a:solidFill>
                  <a:srgbClr val="0F172A"/>
                </a:solidFill>
                <a:latin typeface="Segoe UI"/>
              </a:defRPr>
            </a:pPr>
            <a:r>
              <a:t>Vielen Dank für Ihre Aufmerksamkeit! Halten wir unsere Stadt sauber.</a:t>
            </a:r>
          </a:p>
        </p:txBody>
      </p:sp>
      <p:sp>
        <p:nvSpPr>
          <p:cNvPr id="4" name="Rounded Rectangle 3"/>
          <p:cNvSpPr/>
          <p:nvPr/>
        </p:nvSpPr>
        <p:spPr>
          <a:xfrm>
            <a:off x="731520" y="1691640"/>
            <a:ext cx="5120640" cy="4480560"/>
          </a:xfrm>
          <a:prstGeom prst="roundRect">
            <a:avLst/>
          </a:prstGeom>
          <a:solidFill>
            <a:srgbClr val="F8FAF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 UNSERE GEMEINSAME MISSION</a:t>
            </a:r>
          </a:p>
          <a:p>
            <a:pPr>
              <a:spcBef>
                <a:spcPts val="400"/>
              </a:spcBef>
              <a:defRPr sz="2600" b="1">
                <a:solidFill>
                  <a:srgbClr val="0F172A"/>
                </a:solidFill>
                <a:latin typeface="Segoe UI"/>
              </a:defRPr>
            </a:pPr>
            <a:r>
              <a:t>„Halten wir unsere Stadt sauber!“</a:t>
            </a:r>
          </a:p>
          <a:p>
            <a:pPr>
              <a:spcBef>
                <a:spcPts val="400"/>
              </a:spcBef>
              <a:defRPr sz="1350" b="1">
                <a:solidFill>
                  <a:srgbClr val="10B981"/>
                </a:solidFill>
                <a:latin typeface="Segoe UI"/>
              </a:defRPr>
            </a:pPr>
            <a:r>
              <a:t>Müll gehört in den Eimer – niemals „Daneben!“</a:t>
            </a:r>
          </a:p>
          <a:p>
            <a:pPr>
              <a:spcBef>
                <a:spcPts val="600"/>
              </a:spcBef>
            </a:pPr>
            <a:r>
              <a:rPr sz="1150" b="1">
                <a:solidFill>
                  <a:srgbClr val="0F172A"/>
                </a:solidFill>
                <a:latin typeface="Segoe UI"/>
              </a:rPr>
              <a:t>• Aktives Bürger-Nudging:</a:t>
            </a:r>
            <a:r>
              <a:rPr sz="1150">
                <a:solidFill>
                  <a:srgbClr val="64748B"/>
                </a:solidFill>
                <a:latin typeface="Segoe UI"/>
              </a:rPr>
              <a:t> Akustischer Sprachhinweis motiviert direkt vor Ort, bevor Beistellmüll entsteht.</a:t>
            </a:r>
          </a:p>
          <a:p>
            <a:pPr>
              <a:spcBef>
                <a:spcPts val="600"/>
              </a:spcBef>
            </a:pPr>
            <a:r>
              <a:rPr sz="1150" b="1">
                <a:solidFill>
                  <a:srgbClr val="0F172A"/>
                </a:solidFill>
                <a:latin typeface="Segoe UI"/>
              </a:rPr>
              <a:t>• 100% DSGVO-konform:</a:t>
            </a:r>
            <a:r>
              <a:rPr sz="1150">
                <a:solidFill>
                  <a:srgbClr val="64748B"/>
                </a:solidFill>
                <a:latin typeface="Segoe UI"/>
              </a:rPr>
              <a:t> Reine lokale Edge-KI-Erkennung, keine Personenüberwachung im öffentlichen Raum.</a:t>
            </a:r>
          </a:p>
          <a:p>
            <a:pPr>
              <a:spcBef>
                <a:spcPts val="600"/>
              </a:spcBef>
            </a:pPr>
            <a:r>
              <a:rPr sz="1150" b="1">
                <a:solidFill>
                  <a:srgbClr val="0F172A"/>
                </a:solidFill>
                <a:latin typeface="Segoe UI"/>
              </a:rPr>
              <a:t>• Smarte Flottenlogistik:</a:t>
            </a:r>
            <a:r>
              <a:rPr sz="1150">
                <a:solidFill>
                  <a:srgbClr val="64748B"/>
                </a:solidFill>
                <a:latin typeface="Segoe UI"/>
              </a:rPr>
              <a:t> Bis zu 30% weniger Leerfahrten durch vorausschauende Füllstandstelemetrie.</a:t>
            </a:r>
          </a:p>
          <a:p>
            <a:pPr>
              <a:spcBef>
                <a:spcPts val="600"/>
              </a:spcBef>
            </a:pPr>
            <a:r>
              <a:rPr sz="1150" b="1">
                <a:solidFill>
                  <a:srgbClr val="0F172A"/>
                </a:solidFill>
                <a:latin typeface="Segoe UI"/>
              </a:rPr>
              <a:t>• Autark &amp; Nachrüstbar:</a:t>
            </a:r>
            <a:r>
              <a:rPr sz="1150">
                <a:solidFill>
                  <a:srgbClr val="64748B"/>
                </a:solidFill>
                <a:latin typeface="Segoe UI"/>
              </a:rPr>
              <a:t> Wartungsfreier Solarbetrieb (IP67) für bestehende kommunale Abfallbehälter.</a:t>
            </a:r>
          </a:p>
          <a:p>
            <a:pPr>
              <a:spcBef>
                <a:spcPts val="1400"/>
              </a:spcBef>
              <a:defRPr sz="1050" b="1">
                <a:solidFill>
                  <a:srgbClr val="0F172A"/>
                </a:solidFill>
                <a:latin typeface="Segoe UI"/>
              </a:defRPr>
            </a:pPr>
            <a:r>
              <a:t>Hochschule Niederrhein (HSNR) · FB 03 Elektrotechnik &amp; Informatik</a:t>
            </a:r>
          </a:p>
          <a:p>
            <a:pPr>
              <a:spcBef>
                <a:spcPts val="200"/>
              </a:spcBef>
              <a:defRPr sz="950">
                <a:solidFill>
                  <a:srgbClr val="64748B"/>
                </a:solidFill>
                <a:latin typeface="Segoe UI"/>
              </a:defRPr>
            </a:pPr>
            <a:r>
              <a:t>Team: Chukwuekwugo Egbuonu (Lead), Hilary Mubwandarikwa, Ala Temimi</a:t>
            </a:r>
            <a:br/>
            <a:r>
              <a:t>Projekt: Daneben! · Modul: Mikrocontroller (5. Sem.) · Bereit für Kommunal-Piloten in NRW</a:t>
            </a:r>
          </a:p>
        </p:txBody>
      </p:sp>
      <p:sp>
        <p:nvSpPr>
          <p:cNvPr id="5" name="Rounded Rectangle 4"/>
          <p:cNvSpPr/>
          <p:nvPr/>
        </p:nvSpPr>
        <p:spPr>
          <a:xfrm>
            <a:off x="6080760" y="1691640"/>
            <a:ext cx="5349240" cy="44805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63640" y="1783080"/>
            <a:ext cx="4983480" cy="320040"/>
          </a:xfrm>
          <a:prstGeom prst="rect">
            <a:avLst/>
          </a:prstGeom>
          <a:noFill/>
        </p:spPr>
        <p:txBody>
          <a:bodyPr wrap="none">
            <a:spAutoFit/>
          </a:bodyPr>
          <a:lstStyle/>
          <a:p>
            <a:pPr>
              <a:defRPr sz="1350" b="1">
                <a:solidFill>
                  <a:srgbClr val="0F172A"/>
                </a:solidFill>
                <a:latin typeface="Segoe UI"/>
              </a:defRPr>
            </a:pPr>
            <a:r>
              <a:t>✨ Eine saubere Stadt durch intelligente Abfallbehälter</a:t>
            </a:r>
          </a:p>
        </p:txBody>
      </p:sp>
      <p:pic>
        <p:nvPicPr>
          <p:cNvPr id="7" name="Picture 6" descr="clean_city_illustration_png_1792698653752.jpg"/>
          <p:cNvPicPr>
            <a:picLocks noChangeAspect="1"/>
          </p:cNvPicPr>
          <p:nvPr/>
        </p:nvPicPr>
        <p:blipFill>
          <a:blip r:embed="rId2"/>
          <a:stretch>
            <a:fillRect/>
          </a:stretch>
        </p:blipFill>
        <p:spPr>
          <a:xfrm>
            <a:off x="6263640" y="2176272"/>
            <a:ext cx="4983480" cy="2781477"/>
          </a:xfrm>
          <a:prstGeom prst="rect">
            <a:avLst/>
          </a:prstGeom>
        </p:spPr>
      </p:pic>
      <p:sp>
        <p:nvSpPr>
          <p:cNvPr id="8" name="Rounded Rectangle 7"/>
          <p:cNvSpPr/>
          <p:nvPr/>
        </p:nvSpPr>
        <p:spPr>
          <a:xfrm>
            <a:off x="6263640" y="5138928"/>
            <a:ext cx="4983480" cy="84124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Saubere Gehwege  •  Zufriedene Bürger  •  Effiziente Stadtreinigung</a:t>
            </a:r>
          </a:p>
          <a:p>
            <a:pPr algn="ctr">
              <a:spcBef>
                <a:spcPts val="300"/>
              </a:spcBef>
              <a:defRPr sz="950">
                <a:solidFill>
                  <a:srgbClr val="64748B"/>
                </a:solidFill>
                <a:latin typeface="Segoe UI"/>
              </a:defRPr>
            </a:pPr>
            <a:r>
              <a:t>Daneben! Intelligente Müllerkennung &amp; Bürger-Nudging</a:t>
            </a:r>
          </a:p>
        </p:txBody>
      </p:sp>
      <p:sp>
        <p:nvSpPr>
          <p:cNvPr id="9" name="TextBox 8"/>
          <p:cNvSpPr txBox="1"/>
          <p:nvPr/>
        </p:nvSpPr>
        <p:spPr>
          <a:xfrm>
            <a:off x="731520" y="6537960"/>
            <a:ext cx="10698480" cy="274320"/>
          </a:xfrm>
          <a:prstGeom prst="rect">
            <a:avLst/>
          </a:prstGeom>
          <a:noFill/>
        </p:spPr>
        <p:txBody>
          <a:bodyPr wrap="none">
            <a:spAutoFit/>
          </a:bodyPr>
          <a:lstStyle/>
          <a:p>
            <a:pPr>
              <a:defRPr sz="950">
                <a:solidFill>
                  <a:srgbClr val="64748B"/>
                </a:solidFill>
                <a:latin typeface="Segoe UI"/>
              </a:defRPr>
            </a:pPr>
            <a:r>
              <a:t>DANEBEN!  |  Produktions-Präsentation &amp; Sales Pitch (Standard-Edition)  |  Folie 7 von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