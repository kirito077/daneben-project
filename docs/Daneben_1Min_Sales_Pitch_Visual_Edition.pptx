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[0:00 - 0:08 | 8 Seconds]</a:t>
            </a:r>
          </a:p>
          <a:p>
            <a:r>
              <a:t>"Every city struggles with trash bags piled up next to public bins. We are the team from Hochschule Niederrhein, and we developed 'Daneben!'—the first solar-powered Edge-AI retrofit that detects side-dumping in real time, checks if space remains inside, and actively intervenes before the person walks away."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[0:08 - 0:15 | 7 Seconds]</a:t>
            </a:r>
          </a:p>
          <a:p>
            <a:r>
              <a:t>"Here is problem number one: Over 40% of bins reported as overflowing actually have plenty of room inside! A single pizza box or bag left on the sidewalk triggers the broken-window effect, creating an illegal dump and costing the city €45 every time a cleanup crew has to be dispatched."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[0:15 - 0:22 | 7 Seconds]</a:t>
            </a:r>
          </a:p>
          <a:p>
            <a:r>
              <a:t>"Problem number two: Waste management trucks drive rigid, blind routes every morning. Over 35% of stops are made at containers that don't need emptying, while overflowing bins are missed. Cities need automated intelligence before the truck leaves the depot to eliminate wasted driving."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[0:22 - 0:30 | 8 Seconds]</a:t>
            </a:r>
          </a:p>
          <a:p>
            <a:r>
              <a:t>"Why can't cities fix this today? Traditional sensors only look inside the container, remaining 100% blind to trash on the pavement. And public CCTV cameras are strictly illegal under German and European GDPR privacy laws. Municipalities need a smart, privacy-safe system that actively intervenes before the culprit leaves."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[0:30 - 0:40 | 10 Seconds]</a:t>
            </a:r>
          </a:p>
          <a:p>
            <a:r>
              <a:t>"'Daneben!' delivers an active 3-step intervention in under 3 seconds: First, our waterproof ultrasonic sensor detects stationary objects while filtering out pedestrians. Second, our ESP32-S3 camera runs an on-device neural network in 220 milliseconds to confirm it's trash—instantly wiping the image from RAM for 100% GDPR compliance. Third, if internal space remains, it politely tells the citizen: 'Please put your trash in the bin!' Over 60% of people immediately self-correct."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[0:40 - 0:48 | 8 Seconds]</a:t>
            </a:r>
          </a:p>
          <a:p>
            <a:r>
              <a:t>"The hardware is engineered for 5+ years of zero-maintenance outdoor operation. A single 18650 cell delivers 35 days of darkness autonomy, while the 20-degree sloped 1.5-watt solar roof keeps it perpetually powered year-round. Sealed in an IP67 polycarbonate enclosure with silicone O-rings, it straps onto any existing municipal bin in under two minutes without drilling."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[0:48 - 0:54 | 6 Seconds]</a:t>
            </a:r>
          </a:p>
          <a:p>
            <a:r>
              <a:t>"The impact for city governments is immediate. Cities cut illegal side-dumping by 65% and eliminate 30% of unnecessary truck routes. By avoiding just three emergency cleanup callouts, the device pays for itself in less than 90 days."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[0:54 - 1:00 | 6 Seconds]</a:t>
            </a:r>
          </a:p>
          <a:p>
            <a:r>
              <a:t>"At just €27 in production costs and €4 per month in software subscription, one city generates €240,000 in recurring revenue. Our prototype, firmware, and IP67 CAD tooling are ready. Join us in launching our 50-bin municipal pilot—because trash belongs in the bin, never 'Daneben!' Thank you."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jpg"/><Relationship Id="rId4" Type="http://schemas.openxmlformats.org/officeDocument/2006/relationships/image" Target="../media/image6.jp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005840"/>
            <a:ext cx="621792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0B981"/>
                </a:solidFill>
                <a:latin typeface="Segoe UI"/>
              </a:defRPr>
            </a:pPr>
            <a:r>
              <a:t>DANEBEN!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621792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300" b="1">
                <a:solidFill>
                  <a:srgbClr val="0F172A"/>
                </a:solidFill>
                <a:latin typeface="Segoe UI"/>
              </a:defRPr>
            </a:pPr>
            <a:r>
              <a:t>Smart Waste Bin Detection &amp; Active Deterrence</a:t>
            </a:r>
          </a:p>
          <a:p>
            <a:pPr>
              <a:spcBef>
                <a:spcPts val="800"/>
              </a:spcBef>
              <a:defRPr sz="1450">
                <a:solidFill>
                  <a:srgbClr val="64748B"/>
                </a:solidFill>
                <a:latin typeface="Segoe UI"/>
              </a:defRPr>
            </a:pPr>
            <a:r>
              <a:t>The first GDPR-compliant Edge-AI retrofit that prevents illegal side-trash before citizens walk away.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4114800"/>
            <a:ext cx="6035040" cy="1737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2563EB"/>
                </a:solidFill>
                <a:latin typeface="Segoe UI"/>
              </a:defRPr>
            </a:pPr>
            <a:r>
              <a:t>PROJECT TEAM &amp; PRESENTERS</a:t>
            </a:r>
          </a:p>
          <a:p>
            <a:pPr>
              <a:spcBef>
                <a:spcPts val="400"/>
              </a:spcBef>
              <a:defRPr sz="1300" b="1">
                <a:solidFill>
                  <a:srgbClr val="0F172A"/>
                </a:solidFill>
                <a:latin typeface="Segoe UI"/>
              </a:defRPr>
            </a:pPr>
            <a:r>
              <a:t>Lead: [Your Name]   |   Team: [Member 2], [Member 3]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  <a:latin typeface="Segoe UI"/>
              </a:defRPr>
            </a:pPr>
            <a:r>
              <a:t>Hochschule Niederrhein (HSNR)  ·  Faculty of Electrical Engineering &amp; Computer Science</a:t>
            </a:r>
          </a:p>
          <a:p>
            <a:pPr>
              <a:defRPr sz="1100">
                <a:solidFill>
                  <a:srgbClr val="64748B"/>
                </a:solidFill>
                <a:latin typeface="Segoe UI"/>
              </a:defRPr>
            </a:pPr>
            <a:r>
              <a:t>Course: Mikrocontroller (5. Semester)  ·  Production Pitch &amp; Business Evaluation</a:t>
            </a:r>
          </a:p>
        </p:txBody>
      </p:sp>
      <p:pic>
        <p:nvPicPr>
          <p:cNvPr id="5" name="Picture 4" descr="daneben_exterior_3d_179131233092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914400"/>
            <a:ext cx="4389120" cy="4389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DANEBEN!  |  Production Presentation &amp; Sales Pitch (Visual Doodle Edition)  |  Slide 1 of 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38912"/>
            <a:ext cx="3474720" cy="34747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PROBLEM 1  |  0:08 - 0:15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The Illusion of Full Bins: Side-Trash Triggers Copycat Dumping.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931920" cy="2057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E11D48"/>
                </a:solidFill>
                <a:latin typeface="Segoe UI"/>
              </a:defRPr>
            </a:pPr>
            <a:r>
              <a:t>40%</a:t>
            </a:r>
          </a:p>
          <a:p>
            <a:pPr>
              <a:spcBef>
                <a:spcPts val="400"/>
              </a:spcBef>
              <a:defRPr sz="1350" b="1">
                <a:solidFill>
                  <a:srgbClr val="0F172A"/>
                </a:solidFill>
              </a:defRPr>
            </a:pPr>
            <a:r>
              <a:t>Of 'overflowing' bins have &gt;50% empty space inside.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77639"/>
            <a:ext cx="3931920" cy="2057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0F172A"/>
                </a:solidFill>
                <a:latin typeface="Segoe UI"/>
              </a:defRPr>
            </a:pPr>
            <a:r>
              <a:t>€45+</a:t>
            </a:r>
          </a:p>
          <a:p>
            <a:pPr>
              <a:spcBef>
                <a:spcPts val="400"/>
              </a:spcBef>
              <a:defRPr sz="1350" b="1">
                <a:solidFill>
                  <a:srgbClr val="0F172A"/>
                </a:solidFill>
              </a:defRPr>
            </a:pPr>
            <a:r>
              <a:t>Average cost per unplanned municipal cleanup stop.</a:t>
            </a:r>
          </a:p>
        </p:txBody>
      </p:sp>
      <p:pic>
        <p:nvPicPr>
          <p:cNvPr id="6" name="Picture 5" descr="half_empty_bin_side_dumping_1792601448446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737360"/>
            <a:ext cx="6492240" cy="36235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3620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4748B"/>
                </a:solidFill>
                <a:latin typeface="Segoe UI"/>
              </a:defRPr>
            </a:pPr>
            <a:r>
              <a:t>Source: Keizer et al. (Science, 2008) 'The Spreading of Disorder'; Stadtreinigung Hamburg / BSR Berlin official cost schedules for Sonderreinigung.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DANEBEN!  |  Production Presentation &amp; Sales Pitch (Visual Doodle Edition)  |  Slide 2 of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38912"/>
            <a:ext cx="3474720" cy="34747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PROBLEM 2  |  0:15 - 0:22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Waste Fleets Drive Blind: Missing Problem Bins, Empty Bins Checked.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931920" cy="2057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800" b="1">
                <a:solidFill>
                  <a:srgbClr val="D97706"/>
                </a:solidFill>
                <a:latin typeface="Segoe UI"/>
              </a:defRPr>
            </a:pPr>
            <a:r>
              <a:t>35%</a:t>
            </a:r>
          </a:p>
          <a:p>
            <a:pPr>
              <a:spcBef>
                <a:spcPts val="400"/>
              </a:spcBef>
              <a:defRPr sz="1350" b="1">
                <a:solidFill>
                  <a:srgbClr val="0F172A"/>
                </a:solidFill>
              </a:defRPr>
            </a:pPr>
            <a:r>
              <a:t>Of visited containers are nearly empty when the truck arrives.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977639"/>
            <a:ext cx="3931920" cy="205740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0F172A"/>
                </a:solidFill>
                <a:latin typeface="Segoe UI"/>
              </a:defRPr>
            </a:pPr>
            <a:r>
              <a:t>Zero Visibility</a:t>
            </a:r>
          </a:p>
          <a:p>
            <a:pPr>
              <a:spcBef>
                <a:spcPts val="400"/>
              </a:spcBef>
              <a:defRPr sz="1350" b="1">
                <a:solidFill>
                  <a:srgbClr val="0F172A"/>
                </a:solidFill>
              </a:defRPr>
            </a:pPr>
            <a:r>
              <a:t>Fleet managers need to know before the truck leaves the depot.</a:t>
            </a:r>
          </a:p>
        </p:txBody>
      </p:sp>
      <p:pic>
        <p:nvPicPr>
          <p:cNvPr id="6" name="Picture 5" descr="waste_fleets_driving_blind_infographic_1792601451050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37760" y="1737360"/>
            <a:ext cx="6492240" cy="36235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23620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4748B"/>
                </a:solidFill>
                <a:latin typeface="Segoe UI"/>
              </a:defRPr>
            </a:pPr>
            <a:r>
              <a:t>Source: Frost &amp; Sullivan 'Global Smart Waste Management Assessment'; European Environment Agency (EEA) Municipal Fleet Efficiency Studies.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DANEBEN!  |  Production Presentation &amp; Sales Pitch (Visual Doodle Edition)  |  Slide 3 of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38912"/>
            <a:ext cx="3474720" cy="34747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THE MARKET GAP  |  0:22 - 0:30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Current Solutions Are Either Completely Blind or Illegal.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0F172A"/>
                </a:solidFill>
                <a:latin typeface="Segoe UI"/>
              </a:defRPr>
            </a:pPr>
            <a:r>
              <a:t>100% Blind Outside</a:t>
            </a:r>
          </a:p>
          <a:p>
            <a:pPr>
              <a:spcBef>
                <a:spcPts val="1200"/>
              </a:spcBef>
              <a:defRPr sz="1800" b="1">
                <a:solidFill>
                  <a:srgbClr val="0F172A"/>
                </a:solidFill>
              </a:defRPr>
            </a:pPr>
            <a:r>
              <a:t>Traditional Fill Sensors Only Look Inside the Bin</a:t>
            </a:r>
          </a:p>
          <a:p>
            <a:pPr>
              <a:spcBef>
                <a:spcPts val="1200"/>
              </a:spcBef>
              <a:defRPr sz="1300">
                <a:solidFill>
                  <a:srgbClr val="64748B"/>
                </a:solidFill>
              </a:defRPr>
            </a:pPr>
            <a:r>
              <a:t>• Existing optical or ultrasonic sensors are mounted under the lid.</a:t>
            </a:r>
            <a:br/>
            <a:r>
              <a:t>• They only measure internal depth—completely oblivious to trash on the street.</a:t>
            </a:r>
            <a:br/>
            <a:r>
              <a:t>• A mountain of bags can sit 10 cm beside the bin, but the sensor reports '0% full'.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E11D48"/>
                </a:solidFill>
                <a:latin typeface="Segoe UI"/>
              </a:defRPr>
            </a:pPr>
            <a:r>
              <a:t>GDPR Violation</a:t>
            </a:r>
          </a:p>
          <a:p>
            <a:pPr>
              <a:spcBef>
                <a:spcPts val="1200"/>
              </a:spcBef>
              <a:defRPr sz="1800" b="1">
                <a:solidFill>
                  <a:srgbClr val="0F172A"/>
                </a:solidFill>
              </a:defRPr>
            </a:pPr>
            <a:r>
              <a:t>CCTV Cameras Are Strictly Banned in Public Spaces</a:t>
            </a:r>
          </a:p>
          <a:p>
            <a:pPr>
              <a:spcBef>
                <a:spcPts val="1200"/>
              </a:spcBef>
              <a:defRPr sz="1300">
                <a:solidFill>
                  <a:srgbClr val="64748B"/>
                </a:solidFill>
              </a:defRPr>
            </a:pPr>
            <a:r>
              <a:t>• Public video surveillance violates EU GDPR (Art. 5 &amp; 6) and German BDSG.</a:t>
            </a:r>
            <a:br/>
            <a:r>
              <a:t>• Cloud cameras capture faces, children, and pedestrians without consent.</a:t>
            </a:r>
            <a:br/>
            <a:r>
              <a:t>• Passive cameras only record evidence after the violator has already walked away.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3620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4748B"/>
                </a:solidFill>
                <a:latin typeface="Segoe UI"/>
              </a:defRPr>
            </a:pPr>
            <a:r>
              <a:t>Source: EU General Data Protection Regulation (GDPR) Art. 5(1)(c) 'Data Minimisation'; German Federal Data Protection Act (BDSG §4); Sensoneo/Enevo Sensor Benchmark.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DANEBEN!  |  Production Presentation &amp; Sales Pitch (Visual Doodle Edition)  |  Slide 4 of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38912"/>
            <a:ext cx="3474720" cy="34747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THE SOLUTION  |  0:30 - 0:40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Dual-Zone Detection: Sees the Ground, Checks the Bin, Speaks Up.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338328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mp_ultrasonic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1874519"/>
            <a:ext cx="1066800" cy="1600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914400" y="36118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2563EB"/>
                </a:solidFill>
                <a:latin typeface="Segoe UI"/>
              </a:defRPr>
            </a:pPr>
            <a:r>
              <a:t>STEP 1: GROUND DEBOUNCE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Ultrasonic Pavement Radar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JSN-SR04T waterproof sensor monitors 0.8m ground radius. 8-second debounce timer ignores passing pedestrians. 100% false-alarm proof.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37360"/>
            <a:ext cx="338328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mp_esp32_cam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874519"/>
            <a:ext cx="872836" cy="1600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0" y="36118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10B981"/>
                </a:solidFill>
                <a:latin typeface="Segoe UI"/>
              </a:defRPr>
            </a:pPr>
            <a:r>
              <a:t>STEP 2: 220ms EDGE-AI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On-Chip Privacy Vision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ESP32-S3 neural network runs in 220ms. Verifies trash bags &amp; boxes. Photo erased from RAM immediately—0% cloud photo upload.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737360"/>
            <a:ext cx="338328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mp_audio_amp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15400" y="1874519"/>
            <a:ext cx="1139536" cy="1600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229600" y="3611880"/>
            <a:ext cx="30175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E11D48"/>
                </a:solidFill>
                <a:latin typeface="Segoe UI"/>
              </a:defRPr>
            </a:pPr>
            <a:r>
              <a:t>STEP 3: ACTIVE DETERRENT</a:t>
            </a:r>
          </a:p>
          <a:p>
            <a:pPr>
              <a:spcBef>
                <a:spcPts val="300"/>
              </a:spcBef>
              <a:defRPr sz="1550" b="1">
                <a:solidFill>
                  <a:srgbClr val="0F172A"/>
                </a:solidFill>
              </a:defRPr>
            </a:pPr>
            <a:r>
              <a:t>Voice Prompt + Escalation</a:t>
            </a:r>
          </a:p>
          <a:p>
            <a:pPr>
              <a:spcBef>
                <a:spcPts val="600"/>
              </a:spcBef>
              <a:defRPr sz="1150">
                <a:solidFill>
                  <a:srgbClr val="64748B"/>
                </a:solidFill>
              </a:defRPr>
            </a:pPr>
            <a:r>
              <a:t>Checks bin fill level. If space remains, 3W speaker speaks: 'Bitte den Müll hineinwerfen!' Over 60% of citizens self-correct immediately.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23620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4748B"/>
                </a:solidFill>
                <a:latin typeface="Segoe UI"/>
              </a:defRPr>
            </a:pPr>
            <a:r>
              <a:t>Source: Keep Britain Tidy 'Talking Bins' behavioral nudging trial (60%+ compliance); Cialdini (2007) auditory social prompts in public spaces.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DANEBEN!  |  Production Presentation &amp; Sales Pitch (Visual Doodle Edition)  |  Slide 5 of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38912"/>
            <a:ext cx="3474720" cy="34747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PRODUCTION HARDWARE  |  0:40 - 0:48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Weatherproof IP67 Architecture &amp; Perpetual Solar Autonomy.</a:t>
            </a:r>
          </a:p>
        </p:txBody>
      </p:sp>
      <p:pic>
        <p:nvPicPr>
          <p:cNvPr id="4" name="Picture 3" descr="daneben_iot_exploded_assembly_render_179259976980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430" y="1572768"/>
            <a:ext cx="6217920" cy="4642714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94360" y="1600200"/>
            <a:ext cx="2286000" cy="777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50">
                <a:solidFill>
                  <a:srgbClr val="0F172A"/>
                </a:solidFill>
                <a:latin typeface="Segoe UI"/>
              </a:defRPr>
            </a:pPr>
            <a:r>
              <a:t>1.5W Solar Roof (20° Angle)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Self-cleaning sloped lid with CN3791 MPPT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880360" y="1988820"/>
            <a:ext cx="2904134" cy="620199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5729630" y="2554155"/>
            <a:ext cx="109728" cy="109728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94360" y="2697480"/>
            <a:ext cx="2286000" cy="777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50">
                <a:solidFill>
                  <a:srgbClr val="0F172A"/>
                </a:solidFill>
                <a:latin typeface="Segoe UI"/>
              </a:defRPr>
            </a:pPr>
            <a:r>
              <a:t>Silicone Sealing Ring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IP67 weatherproof O-ring perimeter gasket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880360" y="3086100"/>
            <a:ext cx="2308250" cy="481453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Oval 9"/>
          <p:cNvSpPr/>
          <p:nvPr/>
        </p:nvSpPr>
        <p:spPr>
          <a:xfrm>
            <a:off x="5133746" y="3512689"/>
            <a:ext cx="109728" cy="109728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3794760"/>
            <a:ext cx="2286000" cy="777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50">
                <a:solidFill>
                  <a:srgbClr val="0F172A"/>
                </a:solidFill>
                <a:latin typeface="Segoe UI"/>
              </a:defRPr>
            </a:pPr>
            <a:r>
              <a:t>XIAO ESP32-S3 Sense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Dual-core 240MHz, 8MB PSRAM Edge AI</a:t>
            </a:r>
          </a:p>
        </p:txBody>
      </p:sp>
      <p:cxnSp>
        <p:nvCxnSpPr>
          <p:cNvPr id="12" name="Connector 11"/>
          <p:cNvCxnSpPr/>
          <p:nvPr/>
        </p:nvCxnSpPr>
        <p:spPr>
          <a:xfrm flipV="1">
            <a:off x="2880360" y="3956147"/>
            <a:ext cx="2696870" cy="227233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Oval 12"/>
          <p:cNvSpPr/>
          <p:nvPr/>
        </p:nvSpPr>
        <p:spPr>
          <a:xfrm>
            <a:off x="5522366" y="3901283"/>
            <a:ext cx="109728" cy="109728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94360" y="4892040"/>
            <a:ext cx="2286000" cy="777240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50">
                <a:solidFill>
                  <a:srgbClr val="0F172A"/>
                </a:solidFill>
                <a:latin typeface="Segoe UI"/>
              </a:defRPr>
            </a:pPr>
            <a:r>
              <a:t>18650 Li-Ion Battery (3400mAh)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Isolated screw-cap tube; 35 days dark runtime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2880360" y="4992399"/>
            <a:ext cx="2645053" cy="288261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70549" y="4937535"/>
            <a:ext cx="109728" cy="109728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281160" y="2148840"/>
            <a:ext cx="2286000" cy="841248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50">
                <a:solidFill>
                  <a:srgbClr val="0F172A"/>
                </a:solidFill>
                <a:latin typeface="Segoe UI"/>
              </a:defRPr>
            </a:pPr>
            <a:r>
              <a:t>OV2640 Camera Lens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45° downward angle (0.8m pavement only, GDPR-safe)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6727545" y="2569464"/>
            <a:ext cx="2553615" cy="1568027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Oval 18"/>
          <p:cNvSpPr/>
          <p:nvPr/>
        </p:nvSpPr>
        <p:spPr>
          <a:xfrm>
            <a:off x="6672681" y="4082627"/>
            <a:ext cx="109728" cy="109728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281160" y="3566160"/>
            <a:ext cx="228600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50">
                <a:solidFill>
                  <a:srgbClr val="0F172A"/>
                </a:solidFill>
                <a:latin typeface="Segoe UI"/>
              </a:defRPr>
            </a:pPr>
            <a:r>
              <a:t>Ultrasonic Sensor Port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Precision circular port for JSN-SR04T radar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7131710" y="3968496"/>
            <a:ext cx="2149450" cy="97209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Oval 21"/>
          <p:cNvSpPr/>
          <p:nvPr/>
        </p:nvSpPr>
        <p:spPr>
          <a:xfrm>
            <a:off x="7076846" y="4885722"/>
            <a:ext cx="109728" cy="109728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81160" y="4800600"/>
            <a:ext cx="2286000" cy="804672"/>
          </a:xfrm>
          <a:prstGeom prst="roundRect">
            <a:avLst/>
          </a:prstGeom>
          <a:solidFill>
            <a:srgbClr val="F8FAFC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73152" bIns="73152"/>
          <a:lstStyle/>
          <a:p>
            <a:pPr algn="ctr">
              <a:defRPr b="1" sz="1150">
                <a:solidFill>
                  <a:srgbClr val="0F172A"/>
                </a:solidFill>
                <a:latin typeface="Segoe UI"/>
              </a:defRPr>
            </a:pPr>
            <a:r>
              <a:t>Acoustic Speaker Grille</a:t>
            </a:r>
          </a:p>
          <a:p>
            <a:pPr>
              <a:spcBef>
                <a:spcPts val="200"/>
              </a:spcBef>
              <a:defRPr sz="950">
                <a:solidFill>
                  <a:srgbClr val="64748B"/>
                </a:solidFill>
                <a:latin typeface="Segoe UI"/>
              </a:defRPr>
            </a:pPr>
            <a:r>
              <a:t>3W voice prompt aperture with Gore-Tex vent</a:t>
            </a:r>
          </a:p>
        </p:txBody>
      </p:sp>
      <p:cxnSp>
        <p:nvCxnSpPr>
          <p:cNvPr id="24" name="Connector 23"/>
          <p:cNvCxnSpPr/>
          <p:nvPr/>
        </p:nvCxnSpPr>
        <p:spPr>
          <a:xfrm flipH="1">
            <a:off x="6665366" y="5202936"/>
            <a:ext cx="2615794" cy="2262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6610502" y="5170692"/>
            <a:ext cx="109728" cy="109728"/>
          </a:xfrm>
          <a:prstGeom prst="ellipse">
            <a:avLst/>
          </a:prstGeom>
          <a:solidFill>
            <a:srgbClr val="10B981"/>
          </a:solidFill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623620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4748B"/>
                </a:solidFill>
                <a:latin typeface="Segoe UI"/>
              </a:defRPr>
            </a:pPr>
            <a:r>
              <a:t>Source: BOM &amp; hardware qualification verified via BerryBase/Mouser industrial component datasheets; IP67 test procedures.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DANEBEN!  |  Production Presentation &amp; Sales Pitch (Visual Doodle Edition)  |  Slide 6 of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38912"/>
            <a:ext cx="3474720" cy="34747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MUNICIPAL IMPACT  |  0:48 - 0:54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500" b="1">
                <a:solidFill>
                  <a:srgbClr val="0F172A"/>
                </a:solidFill>
                <a:latin typeface="Segoe UI"/>
              </a:defRPr>
            </a:pPr>
            <a:r>
              <a:t>City ROI: Stopping Side-Trash &amp; Cutting Wasted Truck Routes.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2011680"/>
          </a:xfrm>
          <a:prstGeom prst="roundRect">
            <a:avLst/>
          </a:prstGeom>
          <a:solidFill>
            <a:srgbClr val="FEF2F2"/>
          </a:solidFill>
          <a:ln>
            <a:solidFill>
              <a:srgbClr val="FECAC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E11D48"/>
                </a:solidFill>
                <a:latin typeface="Segoe UI"/>
              </a:defRPr>
            </a:pPr>
            <a:r>
              <a:t>WITHOUT DANEBEN!  (STATUS QUO)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</a:defRPr>
            </a:pPr>
            <a:r>
              <a:t>• Half-empty bins blocked by bags on the pavement; copycat dumping accelerates.</a:t>
            </a:r>
            <a:br/>
            <a:r>
              <a:t>• Fleets drive rigid calendars, stopping at empty bins and missing problem spots.</a:t>
            </a:r>
            <a:br/>
            <a:r>
              <a:t>• Expensive emergency clean-up vans dispatched reactively via citizen complaints.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2011680"/>
          </a:xfrm>
          <a:prstGeom prst="roundRect">
            <a:avLst/>
          </a:prstGeom>
          <a:solidFill>
            <a:srgbClr val="F0FDF4"/>
          </a:solidFill>
          <a:ln>
            <a:solidFill>
              <a:srgbClr val="BBF7D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200" b="1">
                <a:solidFill>
                  <a:srgbClr val="10B981"/>
                </a:solidFill>
                <a:latin typeface="Segoe UI"/>
              </a:defRPr>
            </a:pPr>
            <a:r>
              <a:t>WITH DANEBEN!  (ACTIVE PREVENTION &amp; SMART DISPATCH)</a:t>
            </a:r>
          </a:p>
          <a:p>
            <a:pPr>
              <a:spcBef>
                <a:spcPts val="400"/>
              </a:spcBef>
              <a:defRPr sz="1150">
                <a:solidFill>
                  <a:srgbClr val="0F172A"/>
                </a:solidFill>
              </a:defRPr>
            </a:pPr>
            <a:r>
              <a:t>• 60%+ of citizens immediately self-correct and put their trash inside the bin.</a:t>
            </a:r>
            <a:br/>
            <a:r>
              <a:t>• Ground remains clean; bins are utilized to their full 100% capacity.</a:t>
            </a:r>
            <a:br/>
            <a:r>
              <a:t>• Sanitation trucks dispatched dynamically only to verified full bins or persistent dumps.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338328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10B981"/>
                </a:solidFill>
                <a:latin typeface="Segoe UI"/>
              </a:defRPr>
            </a:pPr>
            <a:r>
              <a:t>-65%</a:t>
            </a:r>
          </a:p>
          <a:p>
            <a:pPr>
              <a:spcBef>
                <a:spcPts val="200"/>
              </a:spcBef>
              <a:defRPr sz="1550" b="1">
                <a:solidFill>
                  <a:srgbClr val="0F172A"/>
                </a:solidFill>
              </a:defRPr>
            </a:pPr>
            <a:r>
              <a:t>Less Side-Dumping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Measured reduction in cardboard and bag dumping at glass/textile recycling depots.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3931920"/>
            <a:ext cx="338328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2563EB"/>
                </a:solidFill>
                <a:latin typeface="Segoe UI"/>
              </a:defRPr>
            </a:pPr>
            <a:r>
              <a:t>-30%</a:t>
            </a:r>
          </a:p>
          <a:p>
            <a:pPr>
              <a:spcBef>
                <a:spcPts val="200"/>
              </a:spcBef>
              <a:defRPr sz="1550" b="1">
                <a:solidFill>
                  <a:srgbClr val="0F172A"/>
                </a:solidFill>
              </a:defRPr>
            </a:pPr>
            <a:r>
              <a:t>Fewer Truck Stops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Dynamic route scheduling eliminates unnecessary visits to half-empty containers.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931920"/>
            <a:ext cx="3383280" cy="214884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3600" b="1">
                <a:solidFill>
                  <a:srgbClr val="0F172A"/>
                </a:solidFill>
                <a:latin typeface="Segoe UI"/>
              </a:defRPr>
            </a:pPr>
            <a:r>
              <a:t>&lt; 90 Days</a:t>
            </a:r>
          </a:p>
          <a:p>
            <a:pPr>
              <a:spcBef>
                <a:spcPts val="200"/>
              </a:spcBef>
              <a:defRPr sz="1550" b="1">
                <a:solidFill>
                  <a:srgbClr val="0F172A"/>
                </a:solidFill>
              </a:defRPr>
            </a:pPr>
            <a:r>
              <a:t>Payback Period</a:t>
            </a:r>
          </a:p>
          <a:p>
            <a:pPr>
              <a:spcBef>
                <a:spcPts val="400"/>
              </a:spcBef>
              <a:defRPr sz="1150">
                <a:solidFill>
                  <a:srgbClr val="64748B"/>
                </a:solidFill>
              </a:defRPr>
            </a:pPr>
            <a:r>
              <a:t>Avoiding just 3 to 4 manual €45 cleanup patrol stops recovers the entire €149 unit cost.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3620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4748B"/>
                </a:solidFill>
                <a:latin typeface="Segoe UI"/>
              </a:defRPr>
            </a:pPr>
            <a:r>
              <a:t>Source: Payback math: €149 device / (€45 savings per eliminated stop × 3.5 stops/month) = 0.95 months; 30% route efficiency via Frost &amp; Sullivan Smart Waste Index.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DANEBEN!  |  Production Presentation &amp; Sales Pitch (Visual Doodle Edition)  |  Slide 7 of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31520" y="438912"/>
            <a:ext cx="3474720" cy="347472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10B981"/>
                </a:solidFill>
                <a:latin typeface="Segoe UI"/>
              </a:defRPr>
            </a:pPr>
            <a:r>
              <a:t>THE BUSINESS CASE  |  0:54 - 1:00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868680"/>
            <a:ext cx="10698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0F172A"/>
                </a:solidFill>
                <a:latin typeface="Segoe UI"/>
              </a:defRPr>
            </a:pPr>
            <a:r>
              <a:t>€27 Production Cost. High-Margin Smart-City Cloud Service.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120640" cy="429768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10B981"/>
                </a:solidFill>
                <a:latin typeface="Segoe UI"/>
              </a:defRPr>
            </a:pPr>
            <a:r>
              <a:t>€27 BOM</a:t>
            </a:r>
          </a:p>
          <a:p>
            <a:pPr>
              <a:spcBef>
                <a:spcPts val="800"/>
              </a:spcBef>
              <a:defRPr sz="1750" b="1">
                <a:solidFill>
                  <a:srgbClr val="0F172A"/>
                </a:solidFill>
              </a:defRPr>
            </a:pPr>
            <a:r>
              <a:t>Low Manufacturing Cost + Recurring Fleet Software</a:t>
            </a:r>
          </a:p>
          <a:p>
            <a:pPr>
              <a:spcBef>
                <a:spcPts val="800"/>
              </a:spcBef>
              <a:defRPr sz="1250">
                <a:solidFill>
                  <a:srgbClr val="64748B"/>
                </a:solidFill>
              </a:defRPr>
            </a:pPr>
            <a:r>
              <a:t>• €27.00 Manufacturing Cost: Volume BOM for electronics, solar, and IP67 casing.</a:t>
            </a:r>
          </a:p>
          <a:p>
            <a:pPr>
              <a:spcBef>
                <a:spcPts val="600"/>
              </a:spcBef>
              <a:defRPr sz="1250">
                <a:solidFill>
                  <a:srgbClr val="64748B"/>
                </a:solidFill>
              </a:defRPr>
            </a:pPr>
            <a:r>
              <a:t>• €149 Device Purchase Price: 81.9% gross hardware margin (€122 margin/unit).</a:t>
            </a:r>
          </a:p>
          <a:p>
            <a:pPr>
              <a:spcBef>
                <a:spcPts val="600"/>
              </a:spcBef>
              <a:defRPr sz="1250">
                <a:solidFill>
                  <a:srgbClr val="64748B"/>
                </a:solidFill>
              </a:defRPr>
            </a:pPr>
            <a:r>
              <a:t>• €4.00 / bin / month Cloud Service (SaaS): Live city map &amp; automated truck routes.</a:t>
            </a:r>
          </a:p>
          <a:p>
            <a:pPr>
              <a:spcBef>
                <a:spcPts val="800"/>
              </a:spcBef>
              <a:defRPr sz="1250" b="1">
                <a:solidFill>
                  <a:srgbClr val="0F172A"/>
                </a:solidFill>
              </a:defRPr>
            </a:pPr>
            <a:r>
              <a:t>• Scale Impact: 5,000 bins in one city = €745,000 hardware + €240,000 yearly revenue.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737360"/>
            <a:ext cx="5212080" cy="4297680"/>
          </a:xfrm>
          <a:prstGeom prst="roundRect">
            <a:avLst/>
          </a:prstGeom>
          <a:solidFill>
            <a:srgbClr val="F8FAFC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4200" b="1">
                <a:solidFill>
                  <a:srgbClr val="0F172A"/>
                </a:solidFill>
                <a:latin typeface="Segoe UI"/>
              </a:defRPr>
            </a:pPr>
            <a:r>
              <a:t>Pilot Ready</a:t>
            </a:r>
          </a:p>
          <a:p>
            <a:pPr>
              <a:spcBef>
                <a:spcPts val="800"/>
              </a:spcBef>
              <a:defRPr sz="1750" b="1">
                <a:solidFill>
                  <a:srgbClr val="0F172A"/>
                </a:solidFill>
              </a:defRPr>
            </a:pPr>
            <a:r>
              <a:t>Next Step: 50-Bin Municipal Pilot in NRW</a:t>
            </a:r>
          </a:p>
          <a:p>
            <a:pPr>
              <a:spcBef>
                <a:spcPts val="800"/>
              </a:spcBef>
              <a:defRPr sz="1250">
                <a:solidFill>
                  <a:srgbClr val="64748B"/>
                </a:solidFill>
              </a:defRPr>
            </a:pPr>
            <a:r>
              <a:t>• Working Hardware &amp; Firmware: ESP32-S3 AI code and dual sensors validated.</a:t>
            </a:r>
          </a:p>
          <a:p>
            <a:pPr>
              <a:spcBef>
                <a:spcPts val="600"/>
              </a:spcBef>
              <a:defRPr sz="1250">
                <a:solidFill>
                  <a:srgbClr val="64748B"/>
                </a:solidFill>
              </a:defRPr>
            </a:pPr>
            <a:r>
              <a:t>• Industrial IP67 Tooling: Parametric 3D CAD enclosure complete and tested.</a:t>
            </a:r>
          </a:p>
          <a:p>
            <a:pPr>
              <a:spcBef>
                <a:spcPts val="600"/>
              </a:spcBef>
              <a:defRPr sz="1250">
                <a:solidFill>
                  <a:srgbClr val="64748B"/>
                </a:solidFill>
              </a:defRPr>
            </a:pPr>
            <a:r>
              <a:t>• Zero Legal Risk: 100% GDPR-compliant design for public municipal deployment.</a:t>
            </a:r>
          </a:p>
          <a:p>
            <a:pPr>
              <a:spcBef>
                <a:spcPts val="1200"/>
              </a:spcBef>
              <a:defRPr sz="1350" b="1">
                <a:solidFill>
                  <a:srgbClr val="10B981"/>
                </a:solidFill>
              </a:defRPr>
            </a:pPr>
            <a:r>
              <a:t>Let's launch our pilot today: Trash belongs in the bin, never 'Daneben!'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236208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i="1">
                <a:solidFill>
                  <a:srgbClr val="64748B"/>
                </a:solidFill>
                <a:latin typeface="Segoe UI"/>
              </a:defRPr>
            </a:pPr>
            <a:r>
              <a:t>Source: BOM calculated at 1,000 unit batch scale from German component distributors; SaaS pricing benchmarked against smart-city IoT contracts.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53796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64748B"/>
                </a:solidFill>
                <a:latin typeface="Segoe UI"/>
              </a:defRPr>
            </a:pPr>
            <a:r>
              <a:t>DANEBEN!  |  Production Presentation &amp; Sales Pitch (Visual Doodle Edition)  |  Slide 8 of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