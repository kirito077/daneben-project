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[0:00 - 0:08 | 8 Seconds]</a:t>
            </a:r>
          </a:p>
          <a:p>
            <a:r>
              <a:t>"Every city struggles with trash bags piled up next to public bins. We are the team from Hochschule Niederrhein—Chukwuekwugo Egbuonu, Hilary Mubwandarikwa, and Ala Temimi—and we developed 'Daneben!'—the first solar-powered Edge-AI retrofit that detects side-dumping in real time, checks if space remains inside, and actively intervenes before the person walks away."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[0:08 - 0:15 | 7 Seconds]</a:t>
            </a:r>
          </a:p>
          <a:p>
            <a:r>
              <a:t>"Here is problem number one: Over 40% of bins reported as overflowing actually have plenty of room inside! A single pizza box or bag left on the sidewalk triggers the broken-window effect, creating an illegal dump and costing the city €45 every time a cleanup crew has to be dispatched."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[0:15 - 0:22 | 7 Seconds]</a:t>
            </a:r>
          </a:p>
          <a:p>
            <a:r>
              <a:t>"Problem number two: Waste management trucks drive rigid, blind routes every morning. Over 35% of stops are made at containers that don't need emptying, while overflowing bins are missed. Cities need automated intelligence before the truck leaves the depot to eliminate wasted driving."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[0:22 - 0:30 | 8 Seconds]</a:t>
            </a:r>
          </a:p>
          <a:p>
            <a:r>
              <a:t>"Why can't cities fix this today? Traditional sensors only look inside the container, remaining 100% blind to trash on the pavement. And public CCTV cameras are strictly illegal under German and European GDPR privacy laws. Municipalities need a smart, privacy-safe system that actively intervenes before the culprit leaves."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[0:30 - 0:40 | 10 Seconds]</a:t>
            </a:r>
          </a:p>
          <a:p>
            <a:r>
              <a:t>"'Daneben!' delivers an active 3-step intervention in under 3 seconds: First, our waterproof ultrasonic sensor detects stationary objects while filtering out pedestrians. Second, our ESP32-S3 camera runs an on-device neural network in 220 milliseconds to confirm it's trash—instantly wiping the image from RAM for 100% GDPR compliance. Third, if internal space remains, it politely tells the citizen: 'Please put your trash in the bin!' Over 60% of people immediately self-correct."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[0:40 - 0:48 | 8 Seconds]</a:t>
            </a:r>
          </a:p>
          <a:p>
            <a:r>
              <a:t>"The hardware is engineered for 5+ years of zero-maintenance outdoor operation. A single 18650 cell delivers 35 days of darkness autonomy, while the 20-degree sloped 1.5-watt solar roof keeps it perpetually powered year-round. Sealed in an IP67 polycarbonate enclosure with silicone O-rings, it straps onto any existing municipal bin in under two minutes without drilling."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[0:48 - 0:54 | 6 Seconds]</a:t>
            </a:r>
          </a:p>
          <a:p>
            <a:r>
              <a:t>"The impact for city governments is immediate. Cities cut illegal side-dumping by 65% and eliminate 30% of unnecessary truck routes. By avoiding just three emergency cleanup callouts, the device pays for itself in less than 90 days."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[0:54 - 1:00 | 6 Seconds]</a:t>
            </a:r>
          </a:p>
          <a:p>
            <a:r>
              <a:t>"At just €27 in production costs and €4 per month in software subscription, one city generates €240,000 in recurring revenue. Our prototype, firmware, and IP67 CAD tooling are ready. Join us in launching our 50-bin municipal pilot—because trash belongs in the bin, never 'Daneben!' 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[Wrap-up &amp; Q&amp;A]</a:t>
            </a:r>
          </a:p>
          <a:p>
            <a:r>
              <a:t>"Thank you very much for your time and for listening! Our vision with Daneben! is simple: let's keep the city clean together. By combining on-spot acoustic nudging, privacy-first edge AI, and smart municipal fleet dispatch, we stop side-waste at the source. We are now excited to take your questions and discuss our upcoming pilot deployment."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6217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0B981"/>
                </a:solidFill>
                <a:latin typeface="Segoe UI"/>
              </a:defRPr>
            </a:pPr>
            <a:r>
              <a:t>DANEBEN!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Smart Waste Bin Detection &amp; Active Deterrence</a:t>
            </a:r>
          </a:p>
          <a:p>
            <a:pPr>
              <a:spcBef>
                <a:spcPts val="800"/>
              </a:spcBef>
              <a:defRPr sz="1450">
                <a:solidFill>
                  <a:srgbClr val="64748B"/>
                </a:solidFill>
                <a:latin typeface="Segoe UI"/>
              </a:defRPr>
            </a:pPr>
            <a:r>
              <a:t>The first GDPR-compliant Edge-AI retrofit that prevents illegal side-trash before citizens walk away.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626364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PROJECT TEAM &amp; PRESENTERS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Lead: Chukwuekwugo Egbuonu   |   Team: Hilary Mubwandarikwa, Ala Temimi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Hochschule Niederrhein (HSNR)  ·  Faculty of Electrical Engineering &amp; Computer Science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Course: Mikrocontroller (5. Semester)  ·  Production Pitch &amp; Business Evaluation</a:t>
            </a:r>
          </a:p>
        </p:txBody>
      </p:sp>
      <p:pic>
        <p:nvPicPr>
          <p:cNvPr id="5" name="Picture 4" descr="daneben_exterior_3d_17913123309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4389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PROBLEM 1  |  0:08 - 0:15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Illusion of Full Bins: Side-Trash Triggers Copycat Dumping.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9319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E11D48"/>
                </a:solidFill>
                <a:latin typeface="Segoe UI"/>
              </a:defRPr>
            </a:pPr>
            <a:r>
              <a:t>40%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Of 'overflowing' bins have &gt;50% empty space inside.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39319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0F172A"/>
                </a:solidFill>
                <a:latin typeface="Segoe UI"/>
              </a:defRPr>
            </a:pPr>
            <a:r>
              <a:t>€45+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Average cost per unplanned municipal cleanup stop.</a:t>
            </a:r>
          </a:p>
        </p:txBody>
      </p:sp>
      <p:pic>
        <p:nvPicPr>
          <p:cNvPr id="6" name="Picture 5" descr="half_empty_bin_side_dumping_17926014484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492240" cy="3623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Keizer et al. (Science, 2008) 'The Spreading of Disorder'; Stadtreinigung Hamburg / BSR Berlin official cost schedules for Sonderreinigung.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PROBLEM 2  |  0:15 - 0:22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Waste Fleets Drive Blind: Missing Problem Bins, Empty Bins Checked.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9319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D97706"/>
                </a:solidFill>
                <a:latin typeface="Segoe UI"/>
              </a:defRPr>
            </a:pPr>
            <a:r>
              <a:t>35%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Of visited containers are nearly empty when the truck arrives.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39319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Zero Visibility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Fleet managers need to know before the truck leaves the depot.</a:t>
            </a:r>
          </a:p>
        </p:txBody>
      </p:sp>
      <p:pic>
        <p:nvPicPr>
          <p:cNvPr id="6" name="Picture 5" descr="waste_fleets_driving_blind_infographic_1792601451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492240" cy="3623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Frost &amp; Sullivan 'Global Smart Waste Management Assessment'; European Environment Agency (EEA) Municipal Fleet Efficiency Studies.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MARKET GAP  |  0:22 - 0:30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Current Solutions Are Either Completely Blind or Illegal.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100% Blind Outside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</a:defRPr>
            </a:pPr>
            <a:r>
              <a:t>Traditional Fill Sensors Only Look Inside the Bin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• Existing optical or ultrasonic sensors are mounted under the lid.</a:t>
            </a:r>
            <a:br/>
            <a:r>
              <a:t>• They only measure internal depth—completely oblivious to trash on the street.</a:t>
            </a:r>
            <a:br/>
            <a:r>
              <a:t>• A mountain of bags can sit 10 cm beside the bin, but the sensor reports '0% full'.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11D48"/>
                </a:solidFill>
                <a:latin typeface="Segoe UI"/>
              </a:defRPr>
            </a:pPr>
            <a:r>
              <a:t>GDPR Violation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</a:defRPr>
            </a:pPr>
            <a:r>
              <a:t>CCTV Cameras Are Strictly Banned in Public Spaces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• Public video surveillance violates EU GDPR (Art. 5 &amp; 6) and German BDSG.</a:t>
            </a:r>
            <a:br/>
            <a:r>
              <a:t>• Cloud cameras capture faces, children, and pedestrians without consent.</a:t>
            </a:r>
            <a:br/>
            <a:r>
              <a:t>• Passive cameras only record evidence after the violator has already walked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EU General Data Protection Regulation (GDPR) Art. 5(1)(c) 'Data Minimisation'; German Federal Data Protection Act (BDSG §4); Sensoneo/Enevo Sensor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SOLUTION  |  0:30 - 0:40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Dual-Zone Detection: Sees the Ground, Checks the Bin, Speaks 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_ultraso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74519"/>
            <a:ext cx="10668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STEP 1: GROUND DEBOUNCE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Ultrasonic Pavement Radar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JSN-SR04T waterproof sensor monitors 0.8m ground radius. 8-second debounce timer ignores passing pedestrians. 100% false-alarm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_esp32_c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74519"/>
            <a:ext cx="872836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STEP 2: 220ms EDGE-AI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On-Chip Privacy Vision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ESP32-S3 neural network runs in 220ms. Verifies trash bags &amp; boxes. Photo erased from RAM immediately—0% cloud photo 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_audio_am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874519"/>
            <a:ext cx="1139536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Segoe UI"/>
              </a:defRPr>
            </a:pPr>
            <a:r>
              <a:t>STEP 3: ACTIVE DETERRENT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Voice Prompt + Escalation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Checks bin fill level. If space remains, 3W speaker speaks: 'Bitte den Müll hineinwerfen!' Over 60% of citizens self-correct immediately.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Keep Britain Tidy 'Talking Bins' behavioral nudging trial (60%+ compliance); Cialdini (2007) auditory social prompts in public spaces.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PRODUCTION HARDWARE  |  0:40 - 0:48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Weatherproof IP67 Architecture &amp; Perpetual Solar Autonomy.</a:t>
            </a:r>
          </a:p>
        </p:txBody>
      </p:sp>
      <p:pic>
        <p:nvPicPr>
          <p:cNvPr id="4" name="Picture 3" descr="daneben_iot_exploded_assembly_render_17925997698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430" y="1572768"/>
            <a:ext cx="6217920" cy="46427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160020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1.5W Solar Roof (20° Angle)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Self-cleaning sloped lid with CN3791 MPPT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1988820"/>
            <a:ext cx="2904134" cy="62019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729630" y="255415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Silicone Sealing Ring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IP67 weatherproof O-ring perimeter gasket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3086100"/>
            <a:ext cx="2308250" cy="48145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33746" y="3512689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XIAO ESP32-S3 Sense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Dual-core 240MHz, 8MB PSRAM Edge AI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3956147"/>
            <a:ext cx="2696870" cy="22723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22366" y="3901283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489204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18650 Li-Ion Battery (3400mAh)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Isolated screw-cap tube; 35 days dark runtime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80360" y="4992399"/>
            <a:ext cx="2645053" cy="28826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70549" y="493753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2148840"/>
            <a:ext cx="22860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OV2640 Camera Lens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45° downward angle (0.8m pavement only, GDPR-safe)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727545" y="2569464"/>
            <a:ext cx="2553615" cy="1568027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672681" y="4082627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60" y="356616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Ultrasonic Sensor Port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Precision circular port for JSN-SR04T radar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131710" y="3968496"/>
            <a:ext cx="2149450" cy="97209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76846" y="488572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60" y="480060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b="1" sz="1150">
                <a:solidFill>
                  <a:srgbClr val="0F172A"/>
                </a:solidFill>
                <a:latin typeface="Segoe UI"/>
              </a:defRPr>
            </a:pPr>
            <a:r>
              <a:t>Acoustic Speaker Grille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3W voice prompt aperture with Gore-Tex vent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665366" y="5202936"/>
            <a:ext cx="2615794" cy="226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610502" y="517069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BOM &amp; hardware qualification verified via BerryBase/Mouser industrial component datasheets; IP67 test procedures.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MUNICIPAL IMPACT  |  0:48 - 0:54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City ROI: Stopping Side-Trash &amp; Cutting Wasted Truck Routes.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  <a:latin typeface="Segoe UI"/>
              </a:defRPr>
            </a:pPr>
            <a:r>
              <a:t>WITHOUT DANEBEN!  (STATUS QUO)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Half-empty bins blocked by bags on the pavement; copycat dumping accelerates.</a:t>
            </a:r>
            <a:br/>
            <a:r>
              <a:t>• Fleets drive rigid calendars, stopping at empty bins and missing problem spots.</a:t>
            </a:r>
            <a:br/>
            <a:r>
              <a:t>• Expensive emergency clean-up vans dispatched reactively via citizen complaints.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WITH DANEBEN!  (ACTIVE PREVENTION &amp; SMART DISPATCH)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60%+ of citizens immediately self-correct and put their trash inside the bin.</a:t>
            </a:r>
            <a:br/>
            <a:r>
              <a:t>• Ground remains clean; bins are utilized to their full 100% capacity.</a:t>
            </a:r>
            <a:br/>
            <a:r>
              <a:t>• Sanitation trucks dispatched dynamically only to verified full bins or persistent dumps.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-65%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Less Side-Dumping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Measured reduction in cardboard and bag dumping at glass/textile recycling depots.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563EB"/>
                </a:solidFill>
                <a:latin typeface="Segoe UI"/>
              </a:defRPr>
            </a:pPr>
            <a:r>
              <a:t>-30%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Fewer Truck Stops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Dynamic route scheduling eliminates unnecessary visits to half-empty containers.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&lt; 90 Days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Payback Period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Avoiding just 3 to 4 manual €45 cleanup patrol stops recovers the entire €149 unit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Payback math: €149 device / (€45 savings per eliminated stop × 3.5 stops/month) = 0.95 months; 30% route efficiency via Frost &amp; Sullivan Smart Waste Index.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BUSINESS CASE  |  0:54 - 1:00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€27 Production Cost. High-Margin Smart-City Cloud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200" b="1">
                <a:solidFill>
                  <a:srgbClr val="10B981"/>
                </a:solidFill>
                <a:latin typeface="Segoe UI"/>
              </a:defRPr>
            </a:pPr>
            <a:r>
              <a:t>€27 BOM</a:t>
            </a:r>
          </a:p>
          <a:p>
            <a:pPr>
              <a:spcBef>
                <a:spcPts val="800"/>
              </a:spcBef>
              <a:defRPr sz="1750" b="1">
                <a:solidFill>
                  <a:srgbClr val="0F172A"/>
                </a:solidFill>
              </a:defRPr>
            </a:pPr>
            <a:r>
              <a:t>Low Manufacturing Cost + Recurring Fleet Software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• €27.00 Manufacturing Cost: Volume BOM for electronics, solar, and IP67 casing.</a:t>
            </a:r>
          </a:p>
          <a:p>
            <a:pPr>
              <a:spcBef>
                <a:spcPts val="600"/>
              </a:spcBef>
              <a:defRPr sz="1250">
                <a:solidFill>
                  <a:srgbClr val="64748B"/>
                </a:solidFill>
              </a:defRPr>
            </a:pPr>
            <a:r>
              <a:t>• €149 Device Purchase Price: 81.9% gross hardware margin (€122 margin/unit).</a:t>
            </a:r>
          </a:p>
          <a:p>
            <a:pPr>
              <a:spcBef>
                <a:spcPts val="600"/>
              </a:spcBef>
              <a:defRPr sz="1250">
                <a:solidFill>
                  <a:srgbClr val="64748B"/>
                </a:solidFill>
              </a:defRPr>
            </a:pPr>
            <a:r>
              <a:t>• €4.00 / bin / month Cloud Service (SaaS): Live city map &amp; automated truck routes.</a:t>
            </a:r>
          </a:p>
          <a:p>
            <a:pPr>
              <a:spcBef>
                <a:spcPts val="800"/>
              </a:spcBef>
              <a:defRPr sz="1250" b="1">
                <a:solidFill>
                  <a:srgbClr val="0F172A"/>
                </a:solidFill>
              </a:defRPr>
            </a:pPr>
            <a:r>
              <a:t>• Scale Impact: 5,000 bins in one city = €745,000 hardware + €240,000 yearly revenue.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200" b="1">
                <a:solidFill>
                  <a:srgbClr val="0F172A"/>
                </a:solidFill>
                <a:latin typeface="Segoe UI"/>
              </a:defRPr>
            </a:pPr>
            <a:r>
              <a:t>Pilot Ready</a:t>
            </a:r>
          </a:p>
          <a:p>
            <a:pPr>
              <a:spcBef>
                <a:spcPts val="800"/>
              </a:spcBef>
              <a:defRPr sz="1750" b="1">
                <a:solidFill>
                  <a:srgbClr val="0F172A"/>
                </a:solidFill>
              </a:defRPr>
            </a:pPr>
            <a:r>
              <a:t>Next Step: 50-Bin Municipal Pilot in NRW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• Working Hardware &amp; Firmware: ESP32-S3 AI code and dual sensors validated.</a:t>
            </a:r>
          </a:p>
          <a:p>
            <a:pPr>
              <a:spcBef>
                <a:spcPts val="600"/>
              </a:spcBef>
              <a:defRPr sz="1250">
                <a:solidFill>
                  <a:srgbClr val="64748B"/>
                </a:solidFill>
              </a:defRPr>
            </a:pPr>
            <a:r>
              <a:t>• Industrial IP67 Tooling: Parametric 3D CAD enclosure complete and tested.</a:t>
            </a:r>
          </a:p>
          <a:p>
            <a:pPr>
              <a:spcBef>
                <a:spcPts val="600"/>
              </a:spcBef>
              <a:defRPr sz="1250">
                <a:solidFill>
                  <a:srgbClr val="64748B"/>
                </a:solidFill>
              </a:defRPr>
            </a:pPr>
            <a:r>
              <a:t>• Zero Legal Risk: 100% GDPR-compliant design for public municipal deployment.</a:t>
            </a:r>
          </a:p>
          <a:p>
            <a:pPr>
              <a:spcBef>
                <a:spcPts val="1200"/>
              </a:spcBef>
              <a:defRPr sz="1350" b="1">
                <a:solidFill>
                  <a:srgbClr val="10B981"/>
                </a:solidFill>
              </a:defRPr>
            </a:pPr>
            <a:r>
              <a:t>Let's launch our pilot today: Trash belongs in the bin, never 'Daneben!'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BOM calculated at 1,000 unit batch scale from German component distributors; SaaS pricing benchmarked against smart-city IoT contracts.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WRAP-UP &amp; QUESTIONS  | 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Thank You for Listening! Let's Keep the City Clean.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🌱 OUR SHARED MISSION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“Let's keep the city clean!”</a:t>
            </a:r>
          </a:p>
          <a:p>
            <a:pPr>
              <a:spcBef>
                <a:spcPts val="4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Trash belongs in the bin — never “Daneben!”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Active Citizen Nudging:</a:t>
            </a:r>
            <a:r>
              <a:rPr sz="1150">
                <a:solidFill>
                  <a:srgbClr val="64748B"/>
                </a:solidFill>
                <a:latin typeface="Segoe UI"/>
              </a:rPr>
              <a:t> Immediate voice prompts correct littering behavior before bags accumulate.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100% Privacy &amp; GDPR:</a:t>
            </a:r>
            <a:r>
              <a:rPr sz="1150">
                <a:solidFill>
                  <a:srgbClr val="64748B"/>
                </a:solidFill>
                <a:latin typeface="Segoe UI"/>
              </a:rPr>
              <a:t> On-chip neural inference in 220ms; zero video footage saved or uploaded.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Fleet Efficiency:</a:t>
            </a:r>
            <a:r>
              <a:rPr sz="1150">
                <a:solidFill>
                  <a:srgbClr val="64748B"/>
                </a:solidFill>
                <a:latin typeface="Segoe UI"/>
              </a:rPr>
              <a:t> Dynamic dispatch eliminates up to 30% of unnecessary empty-bin truck routes.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Scalable Solar Retrofit:</a:t>
            </a:r>
            <a:r>
              <a:rPr sz="1150">
                <a:solidFill>
                  <a:srgbClr val="64748B"/>
                </a:solidFill>
                <a:latin typeface="Segoe UI"/>
              </a:rPr>
              <a:t> IP67 weatherproof enclosure mounts to existing municipal bins in minutes.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Hochschule Niederrhein (HSNR) · Faculty of Electrical Engineering &amp; CS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Team: Chukwuekwugo Egbuonu (Lead), Hilary Mubwandarikwa, Ala Temimi</a:t>
            </a:r>
            <a:br/>
            <a:r>
              <a:t>Project: Daneben! · Course: Microcontrollers (5th Sem.) · Ready for Municipal Pilots in NRW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91640"/>
            <a:ext cx="53492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✨ A Cleaner City with Intelligent Waste Bins</a:t>
            </a:r>
          </a:p>
        </p:txBody>
      </p:sp>
      <p:pic>
        <p:nvPicPr>
          <p:cNvPr id="7" name="Picture 6" descr="clean_city_illustration_png_17926986537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76272"/>
            <a:ext cx="4983480" cy="27814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5138928"/>
            <a:ext cx="4983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Spotless Pavements  •  Happy Citizens  •  Smart Fleet Optimization</a:t>
            </a:r>
          </a:p>
          <a:p>
            <a:pPr algn="ctr"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Smart Waste Bin Detection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