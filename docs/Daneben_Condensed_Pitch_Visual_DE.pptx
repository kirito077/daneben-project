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kwuekwugo EGBUONU" userId="50d8e3b8d2fbeff0" providerId="LiveId" clId="{6EF2D7B8-5933-40A7-9C4B-313C3DCDB4DF}"/>
    <pc:docChg chg="modSld">
      <pc:chgData name="chukwuekwugo EGBUONU" userId="50d8e3b8d2fbeff0" providerId="LiveId" clId="{6EF2D7B8-5933-40A7-9C4B-313C3DCDB4DF}" dt="2026-10-23T12:39:17.490" v="1" actId="14100"/>
      <pc:docMkLst>
        <pc:docMk/>
      </pc:docMkLst>
      <pc:sldChg chg="modSp mod">
        <pc:chgData name="chukwuekwugo EGBUONU" userId="50d8e3b8d2fbeff0" providerId="LiveId" clId="{6EF2D7B8-5933-40A7-9C4B-313C3DCDB4DF}" dt="2026-10-23T12:39:17.490" v="1" actId="14100"/>
        <pc:sldMkLst>
          <pc:docMk/>
          <pc:sldMk cId="0" sldId="259"/>
        </pc:sldMkLst>
        <pc:spChg chg="mod">
          <ac:chgData name="chukwuekwugo EGBUONU" userId="50d8e3b8d2fbeff0" providerId="LiveId" clId="{6EF2D7B8-5933-40A7-9C4B-313C3DCDB4DF}" dt="2026-10-23T12:39:14.445" v="0" actId="1076"/>
          <ac:spMkLst>
            <pc:docMk/>
            <pc:sldMk cId="0" sldId="259"/>
            <ac:spMk id="10" creationId="{00000000-0000-0000-0000-000000000000}"/>
          </ac:spMkLst>
        </pc:spChg>
        <pc:cxnChg chg="mod">
          <ac:chgData name="chukwuekwugo EGBUONU" userId="50d8e3b8d2fbeff0" providerId="LiveId" clId="{6EF2D7B8-5933-40A7-9C4B-313C3DCDB4DF}" dt="2026-10-23T12:39:17.490" v="1" actId="14100"/>
          <ac:cxnSpMkLst>
            <pc:docMk/>
            <pc:sldMk cId="0" sldId="259"/>
            <ac:cxnSpMk id="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0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[0:00 - 0:08 | 8 Sekunden]</a:t>
            </a:r>
          </a:p>
          <a:p>
            <a:r>
              <a:t>"Jede Stadt leidet unter Müllbergen neben öffentlichen Abfalleimern. Wir sind das Team der Hochschule Niederrhein – Chukwuekwugo Egbuonu, Hilary Mubwandarikwa und Ala Temimi – und haben 'Daneben!' entwickelt – das erste solarbetriebene Edge-AI Nachrüstmodul, das wilde Müllablagerungen in Echtzeit erkennt, den internen Füllstand prüft und aktiv interveniert, bevor die Person weitergeht."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[0:08 - 0:20 | 12 Sekunden]</a:t>
            </a:r>
          </a:p>
          <a:p>
            <a:r>
              <a:t>"Hier ist das doppelte Problem der Kommunen: Erstens haben über 40% aller als voll gemeldeten Mülleimer innen noch reichlich Platz – doch abgestellte Tüten lösen den Broken-Windows-Effekt aus und kosten jede Woche tausende Euro an 45-Euro-Sonderreinigungen. Zweitens fahren Entsorgungsflotten völlig blind nach starren Kalendern: Mehr als 35% aller Stopps erfolgen an leeren Eimern, während überquellende Brennpunkte übersehen werden."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[0:20 - 0:35 | 15 Sekunden]</a:t>
            </a:r>
          </a:p>
          <a:p>
            <a:r>
              <a:t>"'Daneben!' interveniert aktiv in unter 3 Sekunden: Zuerst erkennt unser wasserdichter Ultraschallsensor ruhende Objekte und blendet Passanten mit einer 8-Sekunden-Entprellung aus. Zweitens analysiert der ESP32-S3 in 220 Millisekunden das Bild auf Müll – und löscht es sofort aus dem RAM, zu 100% DSGVO-konform. Drittens: Ist im Behälter noch Platz, bittet eine freundliche Stimme: 'Bitte den Müll hineinwerfen!' Über 60% der Bürger lenken sofort ein."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[0:35 - 0:45 | 10 Sekunden]</a:t>
            </a:r>
          </a:p>
          <a:p>
            <a:r>
              <a:t>"Die Hardware ist für mehr als 5 Jahre wartungsfreien Ganzjahresbetrieb ausgelegt. Eine einzelne 18650-Li-Ion-Zelle liefert 35 Tage Dunkelgangreserve, während das 20-Grad geneigte 1,5-Watt-Solardach dauerhafte Energieautonomie garantiert. Geschützt in einem schlagfesten IP67-Polycarbonatgehäuse lässt sich das System in zwei Minuten bohrfrei an jedem Standardbehälter nachrüsten."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[0:45 - 0:55 | 10 Sekunden]</a:t>
            </a:r>
          </a:p>
          <a:p>
            <a:r>
              <a:t>"Der Mehrwert für Kommunen ist unmittelbar messbar: Städte reduzieren wilde Müllablagerungen um 65% und streichen bis zu 30% überflüssiger LKW-Leerfahrten. Weil bereits 3 bis 4 vermiedene Sonderreinigungen à 45 Euro die gesamten Anschaffungskosten decken, amortisiert sich das Gerät in unter 90 Tagen."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[0:55 - 1:00 | 5 Sekunden + Q&amp;A]</a:t>
            </a:r>
          </a:p>
          <a:p>
            <a:r>
              <a:t>"Vielen Dank für Ihre Aufmerksamkeit und fürs Zuhören! Unsere Vision mit 'Daneben!' ist klar: Halten wir unsere Stadt gemeinsam sauber! Müll gehört in den Eimer, niemals daneben. Unser Team an der Hochschule Niederrhein – Chukwuekwugo Egbuonu, Hilary Mubwandarikwa und Ala Temimi – freut sich nun auf Ihre Fragen und die Diskussion zu unserem NRW-Pilotprojekt!"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05840"/>
            <a:ext cx="6217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DANEBEN!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Smarte Müllerkennung &amp; aktive Verhaltenslenkung</a:t>
            </a:r>
          </a:p>
          <a:p>
            <a:pPr>
              <a:spcBef>
                <a:spcPts val="800"/>
              </a:spcBef>
              <a:defRPr sz="1450">
                <a:solidFill>
                  <a:srgbClr val="64748B"/>
                </a:solidFill>
                <a:latin typeface="Segoe UI"/>
              </a:defRPr>
            </a:pPr>
            <a:r>
              <a:t>Das erste DSGVO-konforme Edge-AI Nachrüstsystem, das wilde Müllablagerungen verhindert, bevor Bürger weitergehen.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62636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PROJEKTTEAM &amp; PRÄSENTATOREN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Projektleitung: Chukwuekwugo Egbuonu   |   Team: Hilary Mubwandarikwa, Ala Temimi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Hochschule Niederrhein (HSNR)  ·  Fachbereich Elektrotechnik &amp; Informatik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Modul: Mikrocontroller (5. Semester)  ·  Produktions-Pitch &amp; Systemarchitektur</a:t>
            </a:r>
          </a:p>
        </p:txBody>
      </p:sp>
      <p:pic>
        <p:nvPicPr>
          <p:cNvPr id="5" name="Picture 4" descr="daneben_exterior_3d_17913123309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1 von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E11D48"/>
                </a:solidFill>
                <a:latin typeface="Segoe UI"/>
              </a:defRPr>
            </a:pPr>
            <a:r>
              <a:t>DAS DOPPELTE PROBLEM  |  0:08 - 0:20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Wilde Müllberge &amp; blinde Entsorgungsrouten: Die kommunale Krise.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11D48"/>
                </a:solidFill>
                <a:latin typeface="Segoe UI"/>
              </a:defRPr>
            </a:pPr>
            <a:r>
              <a:t>PROBLEM 1: BEISTELLMÜLL &amp; NACHAHMUNG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Halbleere Eimer provozieren wilde Müllberge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E11D48"/>
                </a:solidFill>
                <a:latin typeface="Segoe UI"/>
              </a:defRPr>
            </a:pPr>
            <a:r>
              <a:t>40%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Behälter innen zu &gt;50% leer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45€+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Kosten je ungeplantem Einsatz</a:t>
            </a:r>
          </a:p>
        </p:txBody>
      </p:sp>
      <p:pic>
        <p:nvPicPr>
          <p:cNvPr id="8" name="Picture 7" descr="half_empty_bin_side_dumping_17926014484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01568"/>
            <a:ext cx="4846320" cy="27049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8095" y="1664208"/>
            <a:ext cx="5212080" cy="44622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755648"/>
            <a:ext cx="484632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PROBLEM 2: STARRE &amp; BLINDE TOUREN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Müllwagen fahren nach Kalender statt Bedarf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09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35%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der Eimer bei Leerung fast leer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5575" y="2450592"/>
            <a:ext cx="2331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0% Sicht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keine Live-Daten vor Tour-Start</a:t>
            </a:r>
          </a:p>
        </p:txBody>
      </p:sp>
      <p:pic>
        <p:nvPicPr>
          <p:cNvPr id="13" name="Picture 12" descr="waste_fleets_driving_blind_infographic_1792601451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75" y="3401568"/>
            <a:ext cx="4846320" cy="27049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Keizer et al. (Science 2008) „The Spreading of Disorder“; Stadtreinigung Hamburg; Frost &amp; Sullivan Smart Waste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2 von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DIE LÖSUNG  |  0:20 - 0:35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Dual-Zonen-Erkennung: Prüft Pflaster, misst Füllstand, spricht Bürger 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_ultrasoni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74519"/>
            <a:ext cx="10668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SCHRITT 1: BODEN-RADAR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Ultraschall-Pflastererfassung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Wasserdichter JSN-SR04T Sensor überwacht 0,8m Bodenradius. 8s-Entprellung filtert vorbeilaufende Fußgänger zuverlässig aus. 100% fehlalarmfrei.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_esp32_c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874519"/>
            <a:ext cx="872836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SCHRITT 2: 220ms EDGE-KI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DSGVO-konforme On-Chip-Vision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ESP32-S3 neuronales Netz klassifiziert in 220ms Müllbeutel &amp; Kartons. Bild wird sofort im RAM überschrieben (memset 0x00) – 0% Cloud-Upload.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mp_audio_am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874519"/>
            <a:ext cx="1139536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6118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  <a:latin typeface="Segoe UI"/>
              </a:defRPr>
            </a:pPr>
            <a:r>
              <a:t>SCHRITT 3: AKTIVES NUDGING</a:t>
            </a:r>
          </a:p>
          <a:p>
            <a:pPr>
              <a:spcBef>
                <a:spcPts val="300"/>
              </a:spcBef>
              <a:defRPr sz="1550" b="1">
                <a:solidFill>
                  <a:srgbClr val="0F172A"/>
                </a:solidFill>
              </a:defRPr>
            </a:pPr>
            <a:r>
              <a:t>Sprachansprache &amp; Meldung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Prüft Innenfüllstand. Ist noch Platz, bittet der 3W-Lautsprecher: „Bitte den Müll hineinwerfen!“ Über 60% der Bürger korrigieren sich sofort.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Keep Britain Tidy „Talking Bins“-Verhaltensstudie (60%+ Regeleinhaltung); Cialdini (2007) Auditive Nudging-Hinweise im öffentlichen Raum.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3 von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PRODUKTIONSHARDWARE  |  0:35 - 0:45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Wetterfeste IP67-Architektur &amp; dauerhafte Solar-Autonomie.</a:t>
            </a:r>
          </a:p>
        </p:txBody>
      </p:sp>
      <p:pic>
        <p:nvPicPr>
          <p:cNvPr id="4" name="Picture 3" descr="daneben_iot_exploded_assembly_render_17925997698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430" y="1572768"/>
            <a:ext cx="6217920" cy="4642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" y="160020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1,5W Solardach (20°-Winkel)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Selbstreinigender Schrägdeckel mit CN3791 MPPT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1988820"/>
            <a:ext cx="2904134" cy="62019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729630" y="255415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Silikon-Dichtungsring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Umlaufende IP67-Wetterdichtung für Außeneinsätze</a:t>
            </a:r>
          </a:p>
        </p:txBody>
      </p:sp>
      <p:cxnSp>
        <p:nvCxnSpPr>
          <p:cNvPr id="9" name="Connector 8"/>
          <p:cNvCxnSpPr>
            <a:cxnSpLocks/>
            <a:endCxn id="10" idx="2"/>
          </p:cNvCxnSpPr>
          <p:nvPr/>
        </p:nvCxnSpPr>
        <p:spPr>
          <a:xfrm>
            <a:off x="2880360" y="3086100"/>
            <a:ext cx="2304592" cy="268656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84952" y="32998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379476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XIAO ESP32-S3 Sense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Dual-Core 240MHz, 8MB PSRAM für Edge-KI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80360" y="3956147"/>
            <a:ext cx="2696870" cy="227233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22366" y="3901283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4892040"/>
            <a:ext cx="2286000" cy="777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18650 Li-Ion Akku (3400mAh)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Gekapselte Schraubhülse; 35 Tage Gangreserve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80360" y="4992399"/>
            <a:ext cx="2645053" cy="2882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70549" y="4937535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81160" y="2148840"/>
            <a:ext cx="22860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OV2640 Kameralinse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45°-Neigung nach unten (0,8m Pflaster, DSGVO-sicher)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727545" y="2569464"/>
            <a:ext cx="2553615" cy="1568027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72681" y="4082627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356616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Ultraschall-Sensoröffnung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Präzise Rundöffnung für JSN-SR04T Sensor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7131710" y="3968496"/>
            <a:ext cx="2149450" cy="97209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076846" y="488572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281160" y="4800600"/>
            <a:ext cx="2286000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Akustik-Lautsprechergitter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3W Sprachausgabe mit Gore-Tex Membran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665366" y="5202936"/>
            <a:ext cx="2615794" cy="226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610502" y="5170692"/>
            <a:ext cx="109728" cy="109728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Stückliste (BOM) &amp; Bauteil-Qualifikation über BerryBase/Mouser Datenblätter; IP67-Dichtigkeitsprüfverfahren.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4 von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KOMMUNALER NUTZEN  |  0:45 - 0:55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Städtischer ROI: Müllberge stoppen &amp; unnötige Touren streichen.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11D48"/>
                </a:solidFill>
                <a:latin typeface="Segoe UI"/>
              </a:defRPr>
            </a:pPr>
            <a:r>
              <a:t>OHNE DANEBEN!  (STATUS QUO)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Halbleere Mülleimer durch Beistellungen blockiert; Nachahmungseffekt beschleunigt.</a:t>
            </a:r>
            <a:br/>
            <a:r>
              <a:t>• Entsorger fahren starre Pläne, halten an leeren Eimern und übersehen Müllbrennpunkte.</a:t>
            </a:r>
            <a:br/>
            <a:r>
              <a:t>• Teure Sonderreinigungs-Transporter rücken erst nach Bürgerbeschwerden reaktiv 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MIT DANEBEN!  (PRÄVENTION &amp; SMARTE ROUTEN)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• &gt;60% der Bürger lenken sofort ein und werfen den Müll korrekt in den Behälter.</a:t>
            </a:r>
            <a:br/>
            <a:r>
              <a:t>• Gehwege bleiben sauber; Mülleimer werden bis zu 100% Volumen ausgenutzt.</a:t>
            </a:r>
            <a:br/>
            <a:r>
              <a:t>• Müllwagen werden dynamisch nur zu vollen Eimern oder echten Müllablagerungen gelenkt.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-65%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Nebenabfälle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Gemessene Reduktion wilder Ablagerungen an Glas- und Altkleider-Sammelstellen.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563EB"/>
                </a:solidFill>
                <a:latin typeface="Segoe UI"/>
              </a:defRPr>
            </a:pPr>
            <a:r>
              <a:t>-30%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Weniger Leerfahrten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Dynamische Tourenplanung eliminiert unnötige Anfahrten halbleerer Behälter.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38328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&lt; 90 Tage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</a:defRPr>
            </a:pPr>
            <a:r>
              <a:t>Amortisationszeit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Bereits 3 bis 4 vermiedene Sonderreinigungen à 45€ decken die 149€ Gerätekosten 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Quelle: Amortisationsrechnung: 149€ Gerätekosten / (45€ Ersparnis je vermiedenem Sondereinsatz × 3,5 Einsätze/Monat) = 0,95 Monate; 30% Flotteneffizienz nach Frost &amp; Sullivan Smart Waste Index.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5 von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38912"/>
            <a:ext cx="3840480" cy="3474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VIELEN DANK &amp; FRAGEN  |  0:55 - 1:00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"/>
              </a:defRPr>
            </a:pPr>
            <a:r>
              <a:t>Vielen Dank für Ihre Aufmerksamkeit! Halten wir unsere Stadt sauber.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🌱 UNSERE GEMEINSAME MISSION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„Halten wir unsere Stadt sauber!“</a:t>
            </a:r>
          </a:p>
          <a:p>
            <a:pPr>
              <a:spcBef>
                <a:spcPts val="4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Müll gehört in den Eimer – niemals „Daneben!“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Aktives Bürger-Nudging:</a:t>
            </a:r>
            <a:r>
              <a:rPr sz="1150">
                <a:solidFill>
                  <a:srgbClr val="64748B"/>
                </a:solidFill>
                <a:latin typeface="Segoe UI"/>
              </a:rPr>
              <a:t> Akustischer Sprachhinweis motiviert direkt vor Ort, bevor Beistellmüll entsteht.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100% DSGVO-konform:</a:t>
            </a:r>
            <a:r>
              <a:rPr sz="1150">
                <a:solidFill>
                  <a:srgbClr val="64748B"/>
                </a:solidFill>
                <a:latin typeface="Segoe UI"/>
              </a:rPr>
              <a:t> Reine lokale Edge-KI-Erkennung, keine Personenüberwachung im öffentlichen Raum.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Smarte Flottenlogistik:</a:t>
            </a:r>
            <a:r>
              <a:rPr sz="1150">
                <a:solidFill>
                  <a:srgbClr val="64748B"/>
                </a:solidFill>
                <a:latin typeface="Segoe UI"/>
              </a:rPr>
              <a:t> Bis zu 30% weniger Leerfahrten durch vorausschauende Füllstandstelemetrie.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Autark &amp; Nachrüstbar:</a:t>
            </a:r>
            <a:r>
              <a:rPr sz="1150">
                <a:solidFill>
                  <a:srgbClr val="64748B"/>
                </a:solidFill>
                <a:latin typeface="Segoe UI"/>
              </a:rPr>
              <a:t> Wartungsfreier Solarbetrieb (IP67) für bestehende kommunale Abfallbehälter.</a:t>
            </a:r>
          </a:p>
          <a:p>
            <a:pPr>
              <a:spcBef>
                <a:spcPts val="14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Hochschule Niederrhein (HSNR) · FB 03 Elektrotechnik &amp; Informatik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Team: Chukwuekwugo Egbuonu (Lead), Hilary Mubwandarikwa, Ala Temimi</a:t>
            </a:r>
            <a:br/>
            <a:r>
              <a:t>Projekt: Daneben! · Modul: Mikrocontroller (5. Sem.) · Bereit für Kommunal-Piloten in NRW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91640"/>
            <a:ext cx="53492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783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✨ Eine saubere Stadt durch intelligente Abfallbehälter</a:t>
            </a:r>
          </a:p>
        </p:txBody>
      </p:sp>
      <p:pic>
        <p:nvPicPr>
          <p:cNvPr id="7" name="Picture 6" descr="clean_city_illustration_png_17926986537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76272"/>
            <a:ext cx="4983480" cy="27814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5138928"/>
            <a:ext cx="498348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Saubere Gehwege  •  Zufriedene Bürger  •  Effiziente Stadtreinigung</a:t>
            </a:r>
          </a:p>
          <a:p>
            <a:pPr algn="ctr">
              <a:spcBef>
                <a:spcPts val="3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Intelligente Müllerkennung &amp; Bürger-Nudging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379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DANEBEN!  |  Kompakt-Pitch &amp; Systemüberblick (Visuelle Skizzen-Edition)  |  Folie 6 von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1247</Words>
  <Application>Microsoft Office PowerPoint</Application>
  <PresentationFormat>Breitbild</PresentationFormat>
  <Paragraphs>99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chukwuekwugo EGBUONU</cp:lastModifiedBy>
  <cp:revision>1</cp:revision>
  <dcterms:created xsi:type="dcterms:W3CDTF">2013-01-27T09:14:16Z</dcterms:created>
  <dcterms:modified xsi:type="dcterms:W3CDTF">2026-10-23T12:59:33Z</dcterms:modified>
  <cp:category/>
</cp:coreProperties>
</file>