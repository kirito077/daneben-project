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[0:00 - 0:08 | 8 Sekunden]</a:t>
            </a:r>
          </a:p>
          <a:p>
            <a:r>
              <a:t>"Jede Stadt leidet unter Müllbergen neben öffentlichen Abfalleimern. Wir sind das Team der Hochschule Niederrhein – Chukwuekwugo Egbuonu, Hilary Mubwandarikwa und Ala Temimi – und haben 'Daneben!' entwickelt – das erste solarbetriebene Edge-AI Nachrüstmodul, das wilde Müllablagerungen in Echtzeit erkennt, den internen Füllstand prüft und aktiv interveniert, bevor die Person weitergeht."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[0:08 - 0:20 | 12 Sekunden]</a:t>
            </a:r>
          </a:p>
          <a:p>
            <a:r>
              <a:t>"Hier ist das doppelte Problem der Kommunen: Erstens haben über 40% aller als voll gemeldeten Mülleimer innen noch reichlich Platz – doch abgestellte Tüten lösen den Broken-Windows-Effekt aus und kosten jede Woche tausende Euro an 45-Euro-Sonderreinigungen. Zweitens fahren Entsorgungsflotten völlig blind nach starren Kalendern: Mehr als 35% aller Stopps erfolgen an leeren Eimern, während überquellende Brennpunkte übersehen werden."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[0:20 - 0:35 | 15 Sekunden]</a:t>
            </a:r>
          </a:p>
          <a:p>
            <a:r>
              <a:t>"'Daneben!' interveniert aktiv in unter 3 Sekunden: Zuerst erkennt unser wasserdichter Ultraschallsensor ruhende Objekte und blendet Passanten mit einer 8-Sekunden-Entprellung aus. Zweitens analysiert der ESP32-S3 in 220 Millisekunden das Bild auf Müll – und löscht es sofort aus dem RAM, zu 100% DSGVO-konform. Drittens: Ist im Behälter noch Platz, bittet eine freundliche Stimme: 'Bitte den Müll hineinwerfen!' Über 60% der Bürger lenken sofort ein."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[0:35 - 0:45 | 10 Sekunden]</a:t>
            </a:r>
          </a:p>
          <a:p>
            <a:r>
              <a:t>"Die Hardware ist für mehr als 5 Jahre wartungsfreien Ganzjahresbetrieb ausgelegt. Eine einzelne 18650-Li-Ion-Zelle liefert 35 Tage Dunkelgangreserve, während das 20-Grad geneigte 1,5-Watt-Solardach dauerhafte Energieautonomie garantiert. Geschützt in einem schlagfesten IP67-Polycarbonatgehäuse lässt sich das System in zwei Minuten bohrfrei an jedem Standardbehälter nachrüsten."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[0:45 - 0:55 | 10 Sekunden]</a:t>
            </a:r>
          </a:p>
          <a:p>
            <a:r>
              <a:t>"Der Mehrwert für Kommunen ist unmittelbar messbar: Städte reduzieren wilde Müllablagerungen um 65% und streichen bis zu 30% überflüssiger LKW-Leerfahrten. Weil bereits 3 bis 4 vermiedene Sonderreinigungen à 45 Euro die gesamten Anschaffungskosten decken, amortisiert sich das Gerät in unter 90 Tagen."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[0:55 - 1:00 | 5 Sekunden + Q&amp;A]</a:t>
            </a:r>
          </a:p>
          <a:p>
            <a:r>
              <a:t>"Vielen Dank für Ihre Aufmerksamkeit und fürs Zuhören! Unsere Vision mit 'Daneben!' ist klar: Halten wir unsere Stadt gemeinsam sauber! Müll gehört in den Eimer, niemals daneben. Unser Team an der Hochschule Niederrhein – Chukwuekwugo Egbuonu, Hilary Mubwandarikwa und Ala Temimi – freut sich nun auf Ihre Fragen und die Diskussion zu unserem NRW-Pilotprojekt!"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6217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0B981"/>
                </a:solidFill>
                <a:latin typeface="Segoe UI"/>
              </a:defRPr>
            </a:pPr>
            <a:r>
              <a:t>DANEBEN!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Smarte Müllerkennung &amp; aktive Verhaltenslenkung</a:t>
            </a:r>
          </a:p>
          <a:p>
            <a:pPr>
              <a:spcBef>
                <a:spcPts val="800"/>
              </a:spcBef>
              <a:defRPr sz="1450">
                <a:solidFill>
                  <a:srgbClr val="64748B"/>
                </a:solidFill>
                <a:latin typeface="Segoe UI"/>
              </a:defRPr>
            </a:pPr>
            <a:r>
              <a:t>Das erste DSGVO-konforme Edge-AI Nachrüstsystem, das wilde Müllablagerungen verhindert, bevor Bürger weitergehen.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626364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PROJEKTTEAM &amp; PRÄSENTATOREN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Projektleitung: Chukwuekwugo Egbuonu   |   Team: Hilary Mubwandarikwa, Ala Temimi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Hochschule Niederrhein (HSNR)  ·  Fachbereich Elektrotechnik &amp; Informatik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Modul: Mikrocontroller (5. Semester)  ·  Produktions-Pitch &amp; Systemarchitektur</a:t>
            </a:r>
          </a:p>
        </p:txBody>
      </p:sp>
      <p:pic>
        <p:nvPicPr>
          <p:cNvPr id="5" name="Picture 4" descr="daneben_exterior_3d_17913123309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14400"/>
            <a:ext cx="43891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(Standard-Edition)  |  Folie 1 von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84048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DAS DOPPELTE PROBLEM  |  0:08 - 0:20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Wilde Müllberge &amp; blinde Entsorgungsrouten: Die kommunale Krise.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64208"/>
            <a:ext cx="5212080" cy="44622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484632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E11D48"/>
                </a:solidFill>
                <a:latin typeface="Segoe UI"/>
              </a:defRPr>
            </a:pPr>
            <a:r>
              <a:t>PROBLEM 1: BEISTELLMÜLL &amp; NACHAHMUNG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Halbleere Eimer provozieren wilde Müllberge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50592"/>
            <a:ext cx="2331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E11D48"/>
                </a:solidFill>
                <a:latin typeface="Segoe UI"/>
              </a:defRPr>
            </a:pPr>
            <a:r>
              <a:t>40%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der Behälter innen zu &gt;50% leer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450592"/>
            <a:ext cx="2331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45€+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Kosten je ungeplantem Einsatz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Bürger nehmen fälschlicherweise an, ein Mülleimer sei voll, wenn ein sperriger Karton den Schacht blockiert. Das triggert den „Broken-Windows-Effekt“: Eine einzige abgestellte Tüte führt binnen Stunden zu einem wilden Müllberg.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Kommunen entsenden nach Bürgerbeschwerden zweiköpfige Reinigungsteams. Diese Notreinigungen kosten Städte wöchentlich tausende Euro an Personaleinsatz, Verschleiß und Diesel.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64208"/>
            <a:ext cx="5212080" cy="44622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755648"/>
            <a:ext cx="484632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PROBLEM 2: STARRE &amp; BLINDE TOUREN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Müllwagen fahren nach Kalender statt Bedarf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0975" y="2450592"/>
            <a:ext cx="2331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563EB"/>
                </a:solidFill>
                <a:latin typeface="Segoe UI"/>
              </a:defRPr>
            </a:pPr>
            <a:r>
              <a:t>35%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der Eimer bei Leerung fast leer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45575" y="2450592"/>
            <a:ext cx="2331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0% Sicht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keine Live-Daten vor Tour-Start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0975" y="34290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Kommunale Entsorger fahren nach starren Wochenplänen. Fahrer halten an jedem einzelnen Behälter – unabhängig davon, ob er völlig leer oder überfüllt ist. Das verbrennt unnötigen Kraftstoff und Arbeitszeit.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Ohne automatisierte Telemetrie können Entsorger Touren nicht dynamisch anpassen. Behälter mit massiven Nebenablagerungen bleiben tagelang unbemerkt, während saubere Eimer sinnlos angefahren werden.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Quelle: Keizer et al. (Science 2008) „The Spreading of Disorder“; Stadtreinigung Hamburg; Frost &amp; Sullivan Smart Waste Index.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(Standard-Edition)  |  Folie 2 von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84048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DIE LÖSUNG  |  0:20 - 0:35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Dual-Zonen-Erkennung: Prüft Pflaster, misst Füllstand, spricht Bürger 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_ultraso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874519"/>
            <a:ext cx="1066800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611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SCHRITT 1: BODEN-RADAR</a:t>
            </a:r>
          </a:p>
          <a:p>
            <a:pPr>
              <a:spcBef>
                <a:spcPts val="300"/>
              </a:spcBef>
              <a:defRPr sz="1550" b="1">
                <a:solidFill>
                  <a:srgbClr val="0F172A"/>
                </a:solidFill>
              </a:defRPr>
            </a:pPr>
            <a:r>
              <a:t>Ultraschall-Pflastererfassung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Wasserdichter JSN-SR04T Sensor überwacht 0,8m Bodenradius. 8s-Entprellung filtert vorbeilaufende Fußgänger zuverlässig aus. 100% fehlalarmfrei.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mp_esp32_c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874519"/>
            <a:ext cx="872836" cy="1600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0" y="3611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SCHRITT 2: 220ms EDGE-KI</a:t>
            </a:r>
          </a:p>
          <a:p>
            <a:pPr>
              <a:spcBef>
                <a:spcPts val="300"/>
              </a:spcBef>
              <a:defRPr sz="1550" b="1">
                <a:solidFill>
                  <a:srgbClr val="0F172A"/>
                </a:solidFill>
              </a:defRPr>
            </a:pPr>
            <a:r>
              <a:t>DSGVO-konforme On-Chip-Vision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ESP32-S3 neuronales Netz klassifiziert in 220ms Müllbeutel &amp; Kartons. Bild wird sofort im RAM überschrieben (memset 0x00) – 0% Cloud-Upload.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mp_audio_am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1874519"/>
            <a:ext cx="1139536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0" y="3611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Segoe UI"/>
              </a:defRPr>
            </a:pPr>
            <a:r>
              <a:t>SCHRITT 3: AKTIVES NUDGING</a:t>
            </a:r>
          </a:p>
          <a:p>
            <a:pPr>
              <a:spcBef>
                <a:spcPts val="300"/>
              </a:spcBef>
              <a:defRPr sz="1550" b="1">
                <a:solidFill>
                  <a:srgbClr val="0F172A"/>
                </a:solidFill>
              </a:defRPr>
            </a:pPr>
            <a:r>
              <a:t>Sprachansprache &amp; Meldung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Prüft Innenfüllstand. Ist noch Platz, bittet der 3W-Lautsprecher: „Bitte den Müll hineinwerfen!“ Über 60% der Bürger korrigieren sich sofort.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Quelle: Keep Britain Tidy „Talking Bins“-Verhaltensstudie (60%+ Regeleinhaltung); Cialdini (2007) Auditive Nudging-Hinweise im öffentlichen Raum.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(Standard-Edition)  |  Folie 3 von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84048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PRODUKTIONSHARDWARE  |  0:35 - 0:45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Wetterfeste IP67-Architektur &amp; dauerhafte Solar-Autonomie.</a:t>
            </a:r>
          </a:p>
        </p:txBody>
      </p:sp>
      <p:pic>
        <p:nvPicPr>
          <p:cNvPr id="4" name="Picture 3" descr="daneben_iot_exploded_assembly_render_17925997698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430" y="1572768"/>
            <a:ext cx="6217920" cy="464271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" y="1600200"/>
            <a:ext cx="228600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b="1" sz="1150">
                <a:solidFill>
                  <a:srgbClr val="0F172A"/>
                </a:solidFill>
                <a:latin typeface="Segoe UI"/>
              </a:defRPr>
            </a:pPr>
            <a:r>
              <a:t>1,5W Solardach (20°-Winkel)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Selbstreinigender Schrägdeckel mit CN3791 MPPT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360" y="1988820"/>
            <a:ext cx="2904134" cy="620199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729630" y="2554155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697480"/>
            <a:ext cx="228600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b="1" sz="1150">
                <a:solidFill>
                  <a:srgbClr val="0F172A"/>
                </a:solidFill>
                <a:latin typeface="Segoe UI"/>
              </a:defRPr>
            </a:pPr>
            <a:r>
              <a:t>Silikon-Dichtungsring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Umlaufende IP67-Wetterdichtung für Außeneinsätze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3086100"/>
            <a:ext cx="2308250" cy="481453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133746" y="3512689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3794760"/>
            <a:ext cx="228600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b="1" sz="1150">
                <a:solidFill>
                  <a:srgbClr val="0F172A"/>
                </a:solidFill>
                <a:latin typeface="Segoe UI"/>
              </a:defRPr>
            </a:pPr>
            <a:r>
              <a:t>XIAO ESP32-S3 Sense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Dual-Core 240MHz, 8MB PSRAM für Edge-KI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880360" y="3956147"/>
            <a:ext cx="2696870" cy="227233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522366" y="3901283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4892040"/>
            <a:ext cx="228600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b="1" sz="1150">
                <a:solidFill>
                  <a:srgbClr val="0F172A"/>
                </a:solidFill>
                <a:latin typeface="Segoe UI"/>
              </a:defRPr>
            </a:pPr>
            <a:r>
              <a:t>18650 Li-Ion Akku (3400mAh)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Gekapselte Schraubhülse; 35 Tage Gangreserve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880360" y="4992399"/>
            <a:ext cx="2645053" cy="288261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470549" y="4937535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81160" y="2148840"/>
            <a:ext cx="2286000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b="1" sz="1150">
                <a:solidFill>
                  <a:srgbClr val="0F172A"/>
                </a:solidFill>
                <a:latin typeface="Segoe UI"/>
              </a:defRPr>
            </a:pPr>
            <a:r>
              <a:t>OV2640 Kameralinse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45°-Neigung nach unten (0,8m Pflaster, DSGVO-sicher)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727545" y="2569464"/>
            <a:ext cx="2553615" cy="1568027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672681" y="4082627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81160" y="3566160"/>
            <a:ext cx="2286000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b="1" sz="1150">
                <a:solidFill>
                  <a:srgbClr val="0F172A"/>
                </a:solidFill>
                <a:latin typeface="Segoe UI"/>
              </a:defRPr>
            </a:pPr>
            <a:r>
              <a:t>Ultraschall-Sensoröffnung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Präzise Rundöffnung für JSN-SR04T Sensor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131710" y="3968496"/>
            <a:ext cx="2149450" cy="97209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076846" y="4885722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81160" y="4800600"/>
            <a:ext cx="2286000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b="1" sz="1150">
                <a:solidFill>
                  <a:srgbClr val="0F172A"/>
                </a:solidFill>
                <a:latin typeface="Segoe UI"/>
              </a:defRPr>
            </a:pPr>
            <a:r>
              <a:t>Akustik-Lautsprechergitter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3W Sprachausgabe mit Gore-Tex Membran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665366" y="5202936"/>
            <a:ext cx="2615794" cy="2262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610502" y="5170692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Quelle: Stückliste (BOM) &amp; Bauteil-Qualifikation über BerryBase/Mouser Datenblätter; IP67-Dichtigkeitsprüfverfahren.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(Standard-Edition)  |  Folie 4 von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84048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KOMMUNALER NUTZEN  |  0:45 - 0:55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Städtischer ROI: Müllberge stoppen &amp; unnötige Touren streichen.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11D48"/>
                </a:solidFill>
                <a:latin typeface="Segoe UI"/>
              </a:defRPr>
            </a:pPr>
            <a:r>
              <a:t>OHNE DANEBEN!  (STATUS QUO)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• Halbleere Mülleimer durch Beistellungen blockiert; Nachahmungseffekt beschleunigt.</a:t>
            </a:r>
            <a:br/>
            <a:r>
              <a:t>• Entsorger fahren starre Pläne, halten an leeren Eimern und übersehen Müllbrennpunkte.</a:t>
            </a:r>
            <a:br/>
            <a:r>
              <a:t>• Teure Sonderreinigungs-Transporter rücken erst nach Bürgerbeschwerden reaktiv aus.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201168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MIT DANEBEN!  (PRÄVENTION &amp; SMARTE ROUTEN)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• &gt;60% der Bürger lenken sofort ein und werfen den Müll korrekt in den Behälter.</a:t>
            </a:r>
            <a:br/>
            <a:r>
              <a:t>• Gehwege bleiben sauber; Mülleimer werden bis zu 100% Volumen ausgenutzt.</a:t>
            </a:r>
            <a:br/>
            <a:r>
              <a:t>• Müllwagen werden dynamisch nur zu vollen Eimern oder echten Müllablagerungen gelenkt.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3832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-65%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</a:defRPr>
            </a:pPr>
            <a:r>
              <a:t>Weniger Nebenabfälle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Gemessene Reduktion wilder Ablagerungen an Glas- und Altkleider-Sammelstellen.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3832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563EB"/>
                </a:solidFill>
                <a:latin typeface="Segoe UI"/>
              </a:defRPr>
            </a:pPr>
            <a:r>
              <a:t>-30%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</a:defRPr>
            </a:pPr>
            <a:r>
              <a:t>Weniger Leerfahrten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Dynamische Tourenplanung eliminiert unnötige Anfahrten halbleerer Behälter.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31920"/>
            <a:ext cx="33832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  <a:latin typeface="Segoe UI"/>
              </a:defRPr>
            </a:pPr>
            <a:r>
              <a:t>&lt; 90 Tage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</a:defRPr>
            </a:pPr>
            <a:r>
              <a:t>Amortisationszeit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Bereits 3 bis 4 vermiedene Sonderreinigungen à 45€ decken die 149€ Gerätekosten 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Quelle: Amortisationsrechnung: 149€ Gerätekosten / (45€ Ersparnis je vermiedenem Sondereinsatz × 3,5 Einsätze/Monat) = 0,95 Monate; 30% Flotteneffizienz nach Frost &amp; Sullivan Smart Waste Index.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(Standard-Edition)  |  Folie 5 von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84048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VIELEN DANK &amp; FRAGEN  |  0:55 - 1:00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Vielen Dank für Ihre Aufmerksamkeit! Halten wir unsere Stadt sauber.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🌱 UNSERE GEMEINSAME MISSION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„Halten wir unsere Stadt sauber!“</a:t>
            </a:r>
          </a:p>
          <a:p>
            <a:pPr>
              <a:spcBef>
                <a:spcPts val="400"/>
              </a:spcBef>
              <a:defRPr sz="1350" b="1">
                <a:solidFill>
                  <a:srgbClr val="10B981"/>
                </a:solidFill>
                <a:latin typeface="Segoe UI"/>
              </a:defRPr>
            </a:pPr>
            <a:r>
              <a:t>Müll gehört in den Eimer – niemals „Daneben!“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Aktives Bürger-Nudging:</a:t>
            </a:r>
            <a:r>
              <a:rPr sz="1150">
                <a:solidFill>
                  <a:srgbClr val="64748B"/>
                </a:solidFill>
                <a:latin typeface="Segoe UI"/>
              </a:rPr>
              <a:t> Akustischer Sprachhinweis motiviert direkt vor Ort, bevor Beistellmüll entsteht.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100% DSGVO-konform:</a:t>
            </a:r>
            <a:r>
              <a:rPr sz="1150">
                <a:solidFill>
                  <a:srgbClr val="64748B"/>
                </a:solidFill>
                <a:latin typeface="Segoe UI"/>
              </a:rPr>
              <a:t> Reine lokale Edge-KI-Erkennung, keine Personenüberwachung im öffentlichen Raum.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Smarte Flottenlogistik:</a:t>
            </a:r>
            <a:r>
              <a:rPr sz="1150">
                <a:solidFill>
                  <a:srgbClr val="64748B"/>
                </a:solidFill>
                <a:latin typeface="Segoe UI"/>
              </a:rPr>
              <a:t> Bis zu 30% weniger Leerfahrten durch vorausschauende Füllstandstelemetrie.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Autark &amp; Nachrüstbar:</a:t>
            </a:r>
            <a:r>
              <a:rPr sz="1150">
                <a:solidFill>
                  <a:srgbClr val="64748B"/>
                </a:solidFill>
                <a:latin typeface="Segoe UI"/>
              </a:rPr>
              <a:t> Wartungsfreier Solarbetrieb (IP67) für bestehende kommunale Abfallbehälter.</a:t>
            </a:r>
          </a:p>
          <a:p>
            <a:pPr>
              <a:spcBef>
                <a:spcPts val="1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Hochschule Niederrhein (HSNR) · FB 03 Elektrotechnik &amp; Informatik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Team: Chukwuekwugo Egbuonu (Lead), Hilary Mubwandarikwa, Ala Temimi</a:t>
            </a:r>
            <a:br/>
            <a:r>
              <a:t>Projekt: Daneben! · Modul: Mikrocontroller (5. Sem.) · Bereit für Kommunal-Piloten in NRW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691640"/>
            <a:ext cx="53492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63640" y="1783080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✨ Eine saubere Stadt durch intelligente Abfallbehälter</a:t>
            </a:r>
          </a:p>
        </p:txBody>
      </p:sp>
      <p:pic>
        <p:nvPicPr>
          <p:cNvPr id="7" name="Picture 6" descr="clean_city_illustration_png_17926986537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176272"/>
            <a:ext cx="4983480" cy="278147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3640" y="5138928"/>
            <a:ext cx="49834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Saubere Gehwege  •  Zufriedene Bürger  •  Effiziente Stadtreinigung</a:t>
            </a:r>
          </a:p>
          <a:p>
            <a:pPr algn="ctr">
              <a:spcBef>
                <a:spcPts val="3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Intelligente Müllerkennung &amp; Bürger-Nudging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(Standard-Edition)  |  Folie 6 von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