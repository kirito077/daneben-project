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080A0-A75A-4EED-B2F6-24AC2183886F}" v="43" dt="2026-10-23T12:45:07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kwuekwugo EGBUONU" userId="50d8e3b8d2fbeff0" providerId="LiveId" clId="{269D1456-D8BA-41C7-879E-2A0B2FFF6BEE}"/>
    <pc:docChg chg="custSel modSld">
      <pc:chgData name="chukwuekwugo EGBUONU" userId="50d8e3b8d2fbeff0" providerId="LiveId" clId="{269D1456-D8BA-41C7-879E-2A0B2FFF6BEE}" dt="2026-10-23T12:45:07.046" v="65"/>
      <pc:docMkLst>
        <pc:docMk/>
      </pc:docMkLst>
      <pc:sldChg chg="addSp modSp mod modTransition modAnim">
        <pc:chgData name="chukwuekwugo EGBUONU" userId="50d8e3b8d2fbeff0" providerId="LiveId" clId="{269D1456-D8BA-41C7-879E-2A0B2FFF6BEE}" dt="2026-10-23T12:45:06.908" v="10"/>
        <pc:sldMkLst>
          <pc:docMk/>
          <pc:sldMk cId="0" sldId="256"/>
        </pc:sldMkLst>
        <pc:picChg chg="add mod">
          <ac:chgData name="chukwuekwugo EGBUONU" userId="50d8e3b8d2fbeff0" providerId="LiveId" clId="{269D1456-D8BA-41C7-879E-2A0B2FFF6BEE}" dt="2026-10-23T12:45:06.699" v="4"/>
          <ac:picMkLst>
            <pc:docMk/>
            <pc:sldMk cId="0" sldId="256"/>
            <ac:picMk id="7" creationId="{61889700-BE25-3DA2-EF06-40867639E128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6.939" v="21"/>
        <pc:sldMkLst>
          <pc:docMk/>
          <pc:sldMk cId="0" sldId="257"/>
        </pc:sldMkLst>
        <pc:picChg chg="add mod">
          <ac:chgData name="chukwuekwugo EGBUONU" userId="50d8e3b8d2fbeff0" providerId="LiveId" clId="{269D1456-D8BA-41C7-879E-2A0B2FFF6BEE}" dt="2026-10-23T12:45:06.927" v="15"/>
          <ac:picMkLst>
            <pc:docMk/>
            <pc:sldMk cId="0" sldId="257"/>
            <ac:picMk id="16" creationId="{6B44AD63-B848-8160-16DB-3E09B5F83593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6.965" v="32"/>
        <pc:sldMkLst>
          <pc:docMk/>
          <pc:sldMk cId="0" sldId="258"/>
        </pc:sldMkLst>
        <pc:picChg chg="add mod">
          <ac:chgData name="chukwuekwugo EGBUONU" userId="50d8e3b8d2fbeff0" providerId="LiveId" clId="{269D1456-D8BA-41C7-879E-2A0B2FFF6BEE}" dt="2026-10-23T12:45:06.953" v="26"/>
          <ac:picMkLst>
            <pc:docMk/>
            <pc:sldMk cId="0" sldId="258"/>
            <ac:picMk id="15" creationId="{51C0A93E-0F4C-975E-2DE1-ED8EDC9DA431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6.992" v="43"/>
        <pc:sldMkLst>
          <pc:docMk/>
          <pc:sldMk cId="0" sldId="259"/>
        </pc:sldMkLst>
        <pc:picChg chg="add mod">
          <ac:chgData name="chukwuekwugo EGBUONU" userId="50d8e3b8d2fbeff0" providerId="LiveId" clId="{269D1456-D8BA-41C7-879E-2A0B2FFF6BEE}" dt="2026-10-23T12:45:06.979" v="37"/>
          <ac:picMkLst>
            <pc:docMk/>
            <pc:sldMk cId="0" sldId="259"/>
            <ac:picMk id="28" creationId="{3E3506F0-24EF-B819-EAF4-ED8AECA5D527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7.016" v="54"/>
        <pc:sldMkLst>
          <pc:docMk/>
          <pc:sldMk cId="0" sldId="260"/>
        </pc:sldMkLst>
        <pc:picChg chg="add mod">
          <ac:chgData name="chukwuekwugo EGBUONU" userId="50d8e3b8d2fbeff0" providerId="LiveId" clId="{269D1456-D8BA-41C7-879E-2A0B2FFF6BEE}" dt="2026-10-23T12:45:07.003" v="48"/>
          <ac:picMkLst>
            <pc:docMk/>
            <pc:sldMk cId="0" sldId="260"/>
            <ac:picMk id="11" creationId="{EE0B4D87-39E5-3041-FEC8-DF43DE5BFB09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7.046" v="65"/>
        <pc:sldMkLst>
          <pc:docMk/>
          <pc:sldMk cId="0" sldId="261"/>
        </pc:sldMkLst>
        <pc:picChg chg="add mod">
          <ac:chgData name="chukwuekwugo EGBUONU" userId="50d8e3b8d2fbeff0" providerId="LiveId" clId="{269D1456-D8BA-41C7-879E-2A0B2FFF6BEE}" dt="2026-10-23T12:45:07.033" v="59"/>
          <ac:picMkLst>
            <pc:docMk/>
            <pc:sldMk cId="0" sldId="261"/>
            <ac:picMk id="10" creationId="{1A755E1B-CA06-782C-AA3C-CA09C6BEAE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253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~10s]</a:t>
            </a:r>
          </a:p>
          <a:p>
            <a:r>
              <a:t>"Wir sind das HSNR-Team: Chukwuekwugo Egbuonu, Hilary Mubwandarikwa und Ala Temimi. Daneben! ist smarte Müllerkennung mit aktivem Bürger-Nudging."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~9s]</a:t>
            </a:r>
          </a:p>
          <a:p>
            <a:r>
              <a:t>"Das Problem: Über 40 Prozent der Behälter mit Beistellmüll sind halbleer, kosten aber teure Notreinigungen. Und Entsorger fahren blind leere Eimer 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~13s]</a:t>
            </a:r>
          </a:p>
          <a:p>
            <a:r>
              <a:t>"Die Lösung: Ultraschall erfasst Beistellmüll fehlalarmfrei. Der ESP32-S3 verifiziert ihn in 220 Millisekunden, DSGVO-konform. Ist Platz, fordert der Lautsprecher zum Einwerfen auf."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~8s]</a:t>
            </a:r>
          </a:p>
          <a:p>
            <a:r>
              <a:t>"Wetterfest nach IP67, autark durch ein 20-Grad-Solardach mit 35 Tagen Gangreserve und in zwei Minuten bohrfrei nachrüstbar."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~7s]</a:t>
            </a:r>
          </a:p>
          <a:p>
            <a:r>
              <a:t>"Das Resultat: 65 Prozent weniger Beistellmüll, 30 Prozent weniger Leerfahrten und amortisiert in unter 90 Tagen."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~7s]</a:t>
            </a:r>
          </a:p>
          <a:p>
            <a:r>
              <a:t>"Halten wir unsere Stadt sauber: Müll gehört in den Eimer – niemals daneben! Vielen Dank für Ihre Aufmerksamkeit."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.png"/><Relationship Id="rId5" Type="http://schemas.openxmlformats.org/officeDocument/2006/relationships/image" Target="../media/image8.jp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2.png"/><Relationship Id="rId5" Type="http://schemas.openxmlformats.org/officeDocument/2006/relationships/image" Target="../media/image9.jp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05840"/>
            <a:ext cx="6217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0B981"/>
                </a:solidFill>
                <a:latin typeface="Segoe UI"/>
              </a:defRPr>
            </a:pPr>
            <a:r>
              <a:t>DANEBEN!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Smarte Müllerkennung &amp; aktive Verhaltenslenkung</a:t>
            </a:r>
          </a:p>
          <a:p>
            <a:pPr>
              <a:spcBef>
                <a:spcPts val="800"/>
              </a:spcBef>
              <a:defRPr sz="1450">
                <a:solidFill>
                  <a:srgbClr val="64748B"/>
                </a:solidFill>
                <a:latin typeface="Segoe UI"/>
              </a:defRPr>
            </a:pPr>
            <a:r>
              <a:t>Das erste DSGVO-konforme Edge-AI Nachrüstsystem, das wilde Müllablagerungen verhindert, bevor Bürger weitergehen.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626364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PROJEKTTEAM &amp; PRÄSENTATOREN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Projektleitung: Chukwuekwugo Egbuonu   |   Team: Hilary Mubwandarikwa, Ala Temimi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Hochschule Niederrhein (HSNR)  ·  Fachbereich Elektrotechnik &amp; Informatik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Modul: Mikrocontroller (5. Semester)  ·  Produktions-Pitch &amp; Systemarchitektur</a:t>
            </a:r>
          </a:p>
        </p:txBody>
      </p:sp>
      <p:pic>
        <p:nvPicPr>
          <p:cNvPr id="5" name="Picture 4" descr="daneben_exterior_3d_179131233092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914400"/>
            <a:ext cx="4389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1 von 6</a:t>
            </a:r>
          </a:p>
        </p:txBody>
      </p:sp>
      <p:pic>
        <p:nvPicPr>
          <p:cNvPr id="7" name="slide_1_de">
            <a:hlinkClick r:id="" action="ppaction://media"/>
            <a:extLst>
              <a:ext uri="{FF2B5EF4-FFF2-40B4-BE49-F238E27FC236}">
                <a16:creationId xmlns:a16="http://schemas.microsoft.com/office/drawing/2014/main" id="{61889700-BE25-3DA2-EF06-40867639E1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2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DAS DOPPELTE PROBLEM  |  0:08 - 0:20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Wilde Müllberge &amp; blinde Entsorgungsrouten: Die kommunale Krise.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64208"/>
            <a:ext cx="5212080" cy="4462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11D48"/>
                </a:solidFill>
                <a:latin typeface="Segoe UI"/>
              </a:defRPr>
            </a:pPr>
            <a:r>
              <a:t>PROBLEM 1: BEISTELLMÜLL &amp; NACHAHMUNG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Halbleere Eimer provozieren wilde Müllberge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E11D48"/>
                </a:solidFill>
                <a:latin typeface="Segoe UI"/>
              </a:defRPr>
            </a:pPr>
            <a:r>
              <a:t>40%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der Behälter innen zu &gt;50% leer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45€+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Kosten je ungeplantem Einsatz</a:t>
            </a:r>
          </a:p>
        </p:txBody>
      </p:sp>
      <p:pic>
        <p:nvPicPr>
          <p:cNvPr id="8" name="Picture 7" descr="half_empty_bin_side_dumping_179260144844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01568"/>
            <a:ext cx="4846320" cy="27049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8095" y="1664208"/>
            <a:ext cx="5212080" cy="4462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0975" y="175564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PROBLEM 2: STARRE &amp; BLINDE TOUREN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Müllwagen fahren nach Kalender statt Bedarf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0975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35%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der Eimer bei Leerung fast leer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5575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0% Sicht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keine Live-Daten vor Tour-Start</a:t>
            </a:r>
          </a:p>
        </p:txBody>
      </p:sp>
      <p:pic>
        <p:nvPicPr>
          <p:cNvPr id="13" name="Picture 12" descr="waste_fleets_driving_blind_infographic_17926014510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975" y="3401568"/>
            <a:ext cx="4846320" cy="27049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Keizer et al. (Science 2008) „The Spreading of Disorder“; Stadtreinigung Hamburg; Frost &amp; Sullivan Smart Waste Index.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2 von 6</a:t>
            </a:r>
          </a:p>
        </p:txBody>
      </p:sp>
      <p:pic>
        <p:nvPicPr>
          <p:cNvPr id="16" name="slide_2_de">
            <a:hlinkClick r:id="" action="ppaction://media"/>
            <a:extLst>
              <a:ext uri="{FF2B5EF4-FFF2-40B4-BE49-F238E27FC236}">
                <a16:creationId xmlns:a16="http://schemas.microsoft.com/office/drawing/2014/main" id="{6B44AD63-B848-8160-16DB-3E09B5F835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2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DIE LÖSUNG  |  0:20 - 0:35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Dual-Zonen-Erkennung: Prüft Pflaster, misst Füllstand, spricht Bürger 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_ultrasoni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874519"/>
            <a:ext cx="10668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SCHRITT 1: BODEN-RADAR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Ultraschall-Pflastererfassung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Wasserdichter JSN-SR04T Sensor überwacht 0,8m Bodenradius. 8s-Entprellung filtert vorbeilaufende Fußgänger zuverlässig aus. 100% fehlalarmfrei.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_esp32_ca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874519"/>
            <a:ext cx="872836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SCHRITT 2: 220ms EDGE-KI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DSGVO-konforme On-Chip-Vision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ESP32-S3 neuronales Netz klassifiziert in 220ms Müllbeutel &amp; Kartons. Bild wird sofort im RAM überschrieben (memset 0x00) – 0% Cloud-Upload.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omp_audio_am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1874519"/>
            <a:ext cx="1139536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Segoe UI"/>
              </a:defRPr>
            </a:pPr>
            <a:r>
              <a:t>SCHRITT 3: AKTIVES NUDGING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Sprachansprache &amp; Meldung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Prüft Innenfüllstand. Ist noch Platz, bittet der 3W-Lautsprecher: „Bitte den Müll hineinwerfen!“ Über 60% der Bürger korrigieren sich sofort.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Keep Britain Tidy „Talking Bins“-Verhaltensstudie (60%+ Regeleinhaltung); Cialdini (2007) Auditive Nudging-Hinweise im öffentlichen Raum.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3 von 6</a:t>
            </a:r>
          </a:p>
        </p:txBody>
      </p:sp>
      <p:pic>
        <p:nvPicPr>
          <p:cNvPr id="15" name="slide_3_de">
            <a:hlinkClick r:id="" action="ppaction://media"/>
            <a:extLst>
              <a:ext uri="{FF2B5EF4-FFF2-40B4-BE49-F238E27FC236}">
                <a16:creationId xmlns:a16="http://schemas.microsoft.com/office/drawing/2014/main" id="{51C0A93E-0F4C-975E-2DE1-ED8EDC9DA4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6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PRODUKTIONSHARDWARE  |  0:35 - 0:45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Wetterfeste IP67-Architektur &amp; dauerhafte Solar-Autonomie.</a:t>
            </a:r>
          </a:p>
        </p:txBody>
      </p:sp>
      <p:pic>
        <p:nvPicPr>
          <p:cNvPr id="4" name="Picture 3" descr="daneben_iot_exploded_assembly_render_17925997698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430" y="1572768"/>
            <a:ext cx="6217920" cy="46427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160020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1,5W Solardach (20°-Winkel)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Selbstreinigender Schrägdeckel mit CN3791 MPPT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1988820"/>
            <a:ext cx="2904134" cy="62019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729630" y="255415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Silikon-Dichtungsring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Umlaufende IP67-Wetterdichtung für Außeneinsätze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3086100"/>
            <a:ext cx="2308250" cy="48145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33746" y="3512689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XIAO ESP32-S3 Sense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Dual-Core 240MHz, 8MB PSRAM für Edge-KI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3956147"/>
            <a:ext cx="2696870" cy="22723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22366" y="3901283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489204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18650 Li-Ion Akku (3400mAh)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Gekapselte Schraubhülse; 35 Tage Gangreserve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80360" y="4992399"/>
            <a:ext cx="2645053" cy="28826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70549" y="493753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81160" y="2148840"/>
            <a:ext cx="22860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OV2640 Kameralinse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45°-Neigung nach unten (0,8m Pflaster, DSGVO-sicher)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727545" y="2569464"/>
            <a:ext cx="2553615" cy="1568027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672681" y="4082627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81160" y="356616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Ultraschall-Sensoröffnung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Präzise Rundöffnung für JSN-SR04T Sensor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131710" y="3968496"/>
            <a:ext cx="2149450" cy="97209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76846" y="488572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281160" y="480060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Akustik-Lautsprechergitter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3W Sprachausgabe mit Gore-Tex Membran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665366" y="5202936"/>
            <a:ext cx="2615794" cy="226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610502" y="517069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Stückliste (BOM) &amp; Bauteil-Qualifikation über BerryBase/Mouser Datenblätter; IP67-Dichtigkeitsprüfverfahren.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4 von 6</a:t>
            </a:r>
          </a:p>
        </p:txBody>
      </p:sp>
      <p:pic>
        <p:nvPicPr>
          <p:cNvPr id="28" name="slide_4_de">
            <a:hlinkClick r:id="" action="ppaction://media"/>
            <a:extLst>
              <a:ext uri="{FF2B5EF4-FFF2-40B4-BE49-F238E27FC236}">
                <a16:creationId xmlns:a16="http://schemas.microsoft.com/office/drawing/2014/main" id="{3E3506F0-24EF-B819-EAF4-ED8AECA5D5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36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KOMMUNALER NUTZEN  |  0:45 - 0:55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Städtischer ROI: Müllberge stoppen &amp; unnötige Touren streichen.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11D48"/>
                </a:solidFill>
                <a:latin typeface="Segoe UI"/>
              </a:defRPr>
            </a:pPr>
            <a:r>
              <a:t>OHNE DANEBEN!  (STATUS QUO)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Halbleere Mülleimer durch Beistellungen blockiert; Nachahmungseffekt beschleunigt.</a:t>
            </a:r>
            <a:br/>
            <a:r>
              <a:t>• Entsorger fahren starre Pläne, halten an leeren Eimern und übersehen Müllbrennpunkte.</a:t>
            </a:r>
            <a:br/>
            <a:r>
              <a:t>• Teure Sonderreinigungs-Transporter rücken erst nach Bürgerbeschwerden reaktiv aus.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MIT DANEBEN!  (PRÄVENTION &amp; SMARTE ROUTEN)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&gt;60% der Bürger lenken sofort ein und werfen den Müll korrekt in den Behälter.</a:t>
            </a:r>
            <a:br/>
            <a:r>
              <a:t>• Gehwege bleiben sauber; Mülleimer werden bis zu 100% Volumen ausgenutzt.</a:t>
            </a:r>
            <a:br/>
            <a:r>
              <a:t>• Müllwagen werden dynamisch nur zu vollen Eimern oder echten Müllablagerungen gelenkt.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-65%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Weniger Nebenabfälle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Gemessene Reduktion wilder Ablagerungen an Glas- und Altkleider-Sammelstellen.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563EB"/>
                </a:solidFill>
                <a:latin typeface="Segoe UI"/>
              </a:defRPr>
            </a:pPr>
            <a:r>
              <a:t>-30%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Weniger Leerfahrten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Dynamische Tourenplanung eliminiert unnötige Anfahrten halbleerer Behälter.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&lt; 90 Tage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Amortisationszeit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Bereits 3 bis 4 vermiedene Sonderreinigungen à 45€ decken die 149€ Gerätekosten 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Amortisationsrechnung: 149€ Gerätekosten / (45€ Ersparnis je vermiedenem Sondereinsatz × 3,5 Einsätze/Monat) = 0,95 Monate; 30% Flotteneffizienz nach Frost &amp; Sullivan Smart Waste Index.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5 von 6</a:t>
            </a:r>
          </a:p>
        </p:txBody>
      </p:sp>
      <p:pic>
        <p:nvPicPr>
          <p:cNvPr id="11" name="slide_5_de">
            <a:hlinkClick r:id="" action="ppaction://media"/>
            <a:extLst>
              <a:ext uri="{FF2B5EF4-FFF2-40B4-BE49-F238E27FC236}">
                <a16:creationId xmlns:a16="http://schemas.microsoft.com/office/drawing/2014/main" id="{EE0B4D87-39E5-3041-FEC8-DF43DE5BFB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2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VIELEN DANK &amp; FRAGEN  |  0:55 - 1:00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Vielen Dank für Ihre Aufmerksamkeit! Halten wir unsere Stadt sauber.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🌱 UNSERE GEMEINSAME MISSION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„Halten wir unsere Stadt sauber!“</a:t>
            </a:r>
          </a:p>
          <a:p>
            <a:pPr>
              <a:spcBef>
                <a:spcPts val="4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Müll gehört in den Eimer – niemals „Daneben!“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Aktives Bürger-Nudging:</a:t>
            </a:r>
            <a:r>
              <a:rPr sz="1150">
                <a:solidFill>
                  <a:srgbClr val="64748B"/>
                </a:solidFill>
                <a:latin typeface="Segoe UI"/>
              </a:rPr>
              <a:t> Akustischer Sprachhinweis motiviert direkt vor Ort, bevor Beistellmüll entsteht.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100% DSGVO-konform:</a:t>
            </a:r>
            <a:r>
              <a:rPr sz="1150">
                <a:solidFill>
                  <a:srgbClr val="64748B"/>
                </a:solidFill>
                <a:latin typeface="Segoe UI"/>
              </a:rPr>
              <a:t> Reine lokale Edge-KI-Erkennung, keine Personenüberwachung im öffentlichen Raum.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Smarte Flottenlogistik:</a:t>
            </a:r>
            <a:r>
              <a:rPr sz="1150">
                <a:solidFill>
                  <a:srgbClr val="64748B"/>
                </a:solidFill>
                <a:latin typeface="Segoe UI"/>
              </a:rPr>
              <a:t> Bis zu 30% weniger Leerfahrten durch vorausschauende Füllstandstelemetrie.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Autark &amp; Nachrüstbar:</a:t>
            </a:r>
            <a:r>
              <a:rPr sz="1150">
                <a:solidFill>
                  <a:srgbClr val="64748B"/>
                </a:solidFill>
                <a:latin typeface="Segoe UI"/>
              </a:rPr>
              <a:t> Wartungsfreier Solarbetrieb (IP67) für bestehende kommunale Abfallbehälter.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Hochschule Niederrhein (HSNR) · FB 03 Elektrotechnik &amp; Informatik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Team: Chukwuekwugo Egbuonu (Lead), Hilary Mubwandarikwa, Ala Temimi</a:t>
            </a:r>
            <a:br/>
            <a:r>
              <a:t>Projekt: Daneben! · Modul: Mikrocontroller (5. Sem.) · Bereit für Kommunal-Piloten in NRW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91640"/>
            <a:ext cx="53492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✨ Eine saubere Stadt durch intelligente Abfallbehälter</a:t>
            </a:r>
          </a:p>
        </p:txBody>
      </p:sp>
      <p:pic>
        <p:nvPicPr>
          <p:cNvPr id="7" name="Picture 6" descr="clean_city_illustration_png_179269865375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176272"/>
            <a:ext cx="4983480" cy="27814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5138928"/>
            <a:ext cx="4983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Saubere Gehwege  •  Zufriedene Bürger  •  Effiziente Stadtreinigung</a:t>
            </a:r>
          </a:p>
          <a:p>
            <a:pPr algn="ctr"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Intelligente Müllerkennung &amp; Bürger-Nudging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6 von 6</a:t>
            </a:r>
          </a:p>
        </p:txBody>
      </p:sp>
      <p:pic>
        <p:nvPicPr>
          <p:cNvPr id="10" name="slide_6_de">
            <a:hlinkClick r:id="" action="ppaction://media"/>
            <a:extLst>
              <a:ext uri="{FF2B5EF4-FFF2-40B4-BE49-F238E27FC236}">
                <a16:creationId xmlns:a16="http://schemas.microsoft.com/office/drawing/2014/main" id="{1A755E1B-CA06-782C-AA3C-CA09C6BEAE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1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Breitbild</PresentationFormat>
  <Paragraphs>99</Paragraphs>
  <Slides>6</Slides>
  <Notes>6</Notes>
  <HiddenSlides>0</HiddenSlides>
  <MMClips>6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chukwuekwugo EGBUONU</cp:lastModifiedBy>
  <cp:revision>1</cp:revision>
  <dcterms:created xsi:type="dcterms:W3CDTF">2013-01-27T09:14:16Z</dcterms:created>
  <dcterms:modified xsi:type="dcterms:W3CDTF">2026-10-23T12:45:07Z</dcterms:modified>
  <cp:category/>
</cp:coreProperties>
</file>