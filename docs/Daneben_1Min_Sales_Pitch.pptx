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Seconds]</a:t>
            </a:r>
          </a:p>
          <a:p>
            <a:r>
              <a:t>"Every city struggles with trash bags piled up next to public bins. We are the team from Hochschule Niederrhein, and we developed 'Daneben!'—the first solar-powered Edge-AI retrofit that detects side-dumping in real time, checks if space remains inside, and actively intervenes before the person walks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Seconds]</a:t>
            </a:r>
          </a:p>
          <a:p>
            <a:r>
              <a:t>"Here is problem number one: Over 40% of bins reported as overflowing actually have plenty of room inside! A single pizza box or bag left on the sidewalk triggers the broken-window effect, creating an illegal dump and costing the city €45 every time a cleanup crew has to be dispatched."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Seconds]</a:t>
            </a:r>
          </a:p>
          <a:p>
            <a:r>
              <a:t>"Problem number two: Waste management trucks drive rigid, blind routes every morning. Over 35% of stops are made at containers that don't need emptying, while overflowing bins are missed. Cities need automated intelligence before the truck leaves the depot to eliminate wasted driving."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Seconds]</a:t>
            </a:r>
          </a:p>
          <a:p>
            <a:r>
              <a:t>"Why can't cities fix this today? Traditional sensors only look inside the container, remaining 100% blind to trash on the pavement. And public CCTV cameras are strictly illegal under German and European GDPR privacy laws. Municipalities need a smart, privacy-safe system that actively intervenes before the culprit leaves."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Seconds]</a:t>
            </a:r>
          </a:p>
          <a:p>
            <a:r>
              <a:t>"'Daneben!' delivers an active 3-step intervention in under 3 seconds: First, our waterproof ultrasonic sensor detects stationary objects while filtering out pedestrians. Second, our ESP32-S3 camera runs an on-device neural network in 220 milliseconds to confirm it's trash—instantly wiping the image from RAM for 100% GDPR compliance. Third, if internal space remains, it politely tells the citizen: 'Please put your trash in the bin!' Over 60% of people immediately self-correct."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[0:40 - 0:48 | 8 Seconds]</a:t>
            </a:r>
          </a:p>
          <a:p>
            <a:r>
              <a:t>"The hardware is engineered for 5+ years of zero-maintenance outdoor operation. A single 18650 cell delivers 35 days of darkness autonomy, while the 20-degree sloped 1.5-watt solar roof keeps it perpetually powered year-round. Sealed in an IP67 polycarbonate enclosure with silicone O-rings, it straps onto any existing municipal bin in under two minutes without drilling."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Seconds]</a:t>
            </a:r>
          </a:p>
          <a:p>
            <a:r>
              <a:t>"The impact for city governments is immediate. Cities cut illegal side-dumping by 65% and eliminate 30% of unnecessary truck routes. By avoiding just three emergency cleanup callouts, the device pays for itself in less than 90 days."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[0:54 - 1:00 | 6 Seconds]</a:t>
            </a:r>
          </a:p>
          <a:p>
            <a:r>
              <a:t>"At just €27 in production costs and €4 per month in software subscription, one city generates €240,000 in recurring revenue. Our prototype, firmware, and IP67 CAD tooling are ready. Join us in launching our 50-bin municipal pilot—because trash belongs in the bin, never 'Daneben!'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 Waste Bin Detection &amp; Active Deterrence</a:t>
            </a:r>
          </a:p>
          <a:p>
            <a:pPr>
              <a:spcBef>
                <a:spcPts val="800"/>
              </a:spcBef>
              <a:defRPr sz="1450">
                <a:solidFill>
                  <a:srgbClr val="64748B"/>
                </a:solidFill>
                <a:latin typeface="Segoe UI"/>
              </a:defRPr>
            </a:pPr>
            <a:r>
              <a:t>The first GDPR-compliant Edge-AI retrofit that prevents illegal side-trash before citizens walk away.</a:t>
            </a:r>
          </a:p>
        </p:txBody>
      </p:sp>
      <p:sp>
        <p:nvSpPr>
          <p:cNvPr id="4" name="Rounded Rectangle 3"/>
          <p:cNvSpPr/>
          <p:nvPr/>
        </p:nvSpPr>
        <p:spPr>
          <a:xfrm>
            <a:off x="731520" y="4114800"/>
            <a:ext cx="60350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PROJECT TEAM &amp; PRESENTERS</a:t>
            </a:r>
          </a:p>
          <a:p>
            <a:pPr>
              <a:spcBef>
                <a:spcPts val="400"/>
              </a:spcBef>
              <a:defRPr sz="1300" b="1">
                <a:solidFill>
                  <a:srgbClr val="0F172A"/>
                </a:solidFill>
                <a:latin typeface="Segoe UI"/>
              </a:defRPr>
            </a:pPr>
            <a:r>
              <a:t>Lead: [Your Name]   |   Team: [Member 2], [Member 3]</a:t>
            </a:r>
          </a:p>
          <a:p>
            <a:pPr>
              <a:spcBef>
                <a:spcPts val="400"/>
              </a:spcBef>
              <a:defRPr sz="1150">
                <a:solidFill>
                  <a:srgbClr val="64748B"/>
                </a:solidFill>
                <a:latin typeface="Segoe UI"/>
              </a:defRPr>
            </a:pPr>
            <a:r>
              <a:t>Hochschule Niederrhein (HSNR)  ·  Faculty of Electrical Engineering &amp; Computer Science</a:t>
            </a:r>
          </a:p>
          <a:p>
            <a:pPr>
              <a:defRPr sz="1100">
                <a:solidFill>
                  <a:srgbClr val="64748B"/>
                </a:solidFill>
                <a:latin typeface="Segoe UI"/>
              </a:defRPr>
            </a:pPr>
            <a:r>
              <a:t>Course: Mikrocontroller (5. Semester)  ·  Production Pitch &amp; Business Evaluation</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1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The Illusion of Full Bins: Side-Trash Triggers Copycat Dumping.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E11D48"/>
                </a:solidFill>
                <a:latin typeface="Segoe UI"/>
              </a:defRPr>
            </a:pPr>
            <a:r>
              <a:t>40%</a:t>
            </a:r>
          </a:p>
          <a:p>
            <a:pPr>
              <a:spcBef>
                <a:spcPts val="800"/>
              </a:spcBef>
              <a:defRPr sz="1800" b="1">
                <a:solidFill>
                  <a:srgbClr val="0F172A"/>
                </a:solidFill>
              </a:defRPr>
            </a:pPr>
            <a:r>
              <a:t>Of 'overflowing' bins have &gt;50% empty space inside.</a:t>
            </a:r>
          </a:p>
          <a:p>
            <a:pPr>
              <a:spcBef>
                <a:spcPts val="1000"/>
              </a:spcBef>
              <a:defRPr sz="1300">
                <a:solidFill>
                  <a:srgbClr val="64748B"/>
                </a:solidFill>
              </a:defRPr>
            </a:pPr>
            <a:r>
              <a:t>Citizens falsely assume a bin is full when a pizza box blocks the opening or when they see one bag left on the ground. This triggers the 'Broken Windows' effect: one dropped bag leads to an immediate pile of copycat trash within hours.</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0F172A"/>
                </a:solidFill>
                <a:latin typeface="Segoe UI"/>
              </a:defRPr>
            </a:pPr>
            <a:r>
              <a:t>€45+</a:t>
            </a:r>
          </a:p>
          <a:p>
            <a:pPr>
              <a:spcBef>
                <a:spcPts val="800"/>
              </a:spcBef>
              <a:defRPr sz="1800" b="1">
                <a:solidFill>
                  <a:srgbClr val="0F172A"/>
                </a:solidFill>
              </a:defRPr>
            </a:pPr>
            <a:r>
              <a:t>Average cost per unplanned municipal cleanup stop.</a:t>
            </a:r>
          </a:p>
          <a:p>
            <a:pPr>
              <a:spcBef>
                <a:spcPts val="1000"/>
              </a:spcBef>
              <a:defRPr sz="1300">
                <a:solidFill>
                  <a:srgbClr val="64748B"/>
                </a:solidFill>
              </a:defRPr>
            </a:pPr>
            <a:r>
              <a:t>German cities dispatch dedicated two-person cleaning vans to remove illegal side-waste after citizen complaints. Unplanned emergency stops cost thousands of euros each week in labor, vehicle wear, and wasted diesel.</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Keizer et al. (Science, 2008) 'The Spreading of Disorder'; Stadtreinigung Hamburg / BSR Berlin official cost schedules for Sonderreinigung.</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2 of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Waste Fleets Drive Blind: Missing Problem Bins, Empty Bins Checked.</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D97706"/>
                </a:solidFill>
                <a:latin typeface="Segoe UI"/>
              </a:defRPr>
            </a:pPr>
            <a:r>
              <a:t>35%</a:t>
            </a:r>
          </a:p>
          <a:p>
            <a:pPr>
              <a:spcBef>
                <a:spcPts val="800"/>
              </a:spcBef>
              <a:defRPr sz="1800" b="1">
                <a:solidFill>
                  <a:srgbClr val="0F172A"/>
                </a:solidFill>
              </a:defRPr>
            </a:pPr>
            <a:r>
              <a:t>Of visited containers are nearly empty when the truck arrives.</a:t>
            </a:r>
          </a:p>
          <a:p>
            <a:pPr>
              <a:spcBef>
                <a:spcPts val="1000"/>
              </a:spcBef>
              <a:defRPr sz="1300">
                <a:solidFill>
                  <a:srgbClr val="64748B"/>
                </a:solidFill>
              </a:defRPr>
            </a:pPr>
            <a:r>
              <a:t>Waste companies currently follow rigid, predetermined weekly calendars. Drivers stop at every single bin on the route regardless of whether it is completely empty or overflowing, burning excessive fuel and wasting operator hours.</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0F172A"/>
                </a:solidFill>
                <a:latin typeface="Segoe UI"/>
              </a:defRPr>
            </a:pPr>
            <a:r>
              <a:t>Zero Visibility</a:t>
            </a:r>
          </a:p>
          <a:p>
            <a:pPr>
              <a:spcBef>
                <a:spcPts val="1400"/>
              </a:spcBef>
              <a:defRPr sz="1800" b="1">
                <a:solidFill>
                  <a:srgbClr val="0F172A"/>
                </a:solidFill>
              </a:defRPr>
            </a:pPr>
            <a:r>
              <a:t>Fleet managers need to know before the truck leaves the depot.</a:t>
            </a:r>
          </a:p>
          <a:p>
            <a:pPr>
              <a:spcBef>
                <a:spcPts val="1000"/>
              </a:spcBef>
              <a:defRPr sz="1300">
                <a:solidFill>
                  <a:srgbClr val="64748B"/>
                </a:solidFill>
              </a:defRPr>
            </a:pPr>
            <a:r>
              <a:t>Without automated telemetry, sanitation services cannot dynamically prioritize routes. Bins with persistent side-waste remain unserviced for days, while clean, empty containers receive unnecessary daily stops.</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Frost &amp; Sullivan 'Global Smart Waste Management Assessment'; European Environment Agency (EEA) Municipal Fleet Efficiency Studies.</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3 of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MARKET GAP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Current Solutions Are Either Completely Blind or Illegal.</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100% Blind Outside</a:t>
            </a:r>
          </a:p>
          <a:p>
            <a:pPr>
              <a:spcBef>
                <a:spcPts val="1200"/>
              </a:spcBef>
              <a:defRPr sz="1800" b="1">
                <a:solidFill>
                  <a:srgbClr val="0F172A"/>
                </a:solidFill>
              </a:defRPr>
            </a:pPr>
            <a:r>
              <a:t>Traditional Fill Sensors Only Look Inside the Bin</a:t>
            </a:r>
          </a:p>
          <a:p>
            <a:pPr>
              <a:spcBef>
                <a:spcPts val="1200"/>
              </a:spcBef>
              <a:defRPr sz="1300">
                <a:solidFill>
                  <a:srgbClr val="64748B"/>
                </a:solidFill>
              </a:defRPr>
            </a:pPr>
            <a:r>
              <a:t>• Existing optical or ultrasonic sensors are mounted under the lid.</a:t>
            </a:r>
            <a:br/>
            <a:r>
              <a:t>• They only measure internal depth—completely oblivious to trash on the street.</a:t>
            </a:r>
            <a:br/>
            <a:r>
              <a:t>• A mountain of bags can sit 10 cm beside the bin, but the sensor reports '0% full'.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GDPR Violation</a:t>
            </a:r>
          </a:p>
          <a:p>
            <a:pPr>
              <a:spcBef>
                <a:spcPts val="1200"/>
              </a:spcBef>
              <a:defRPr sz="1800" b="1">
                <a:solidFill>
                  <a:srgbClr val="0F172A"/>
                </a:solidFill>
              </a:defRPr>
            </a:pPr>
            <a:r>
              <a:t>CCTV Cameras Are Strictly Banned in Public Spaces</a:t>
            </a:r>
          </a:p>
          <a:p>
            <a:pPr>
              <a:spcBef>
                <a:spcPts val="1200"/>
              </a:spcBef>
              <a:defRPr sz="1300">
                <a:solidFill>
                  <a:srgbClr val="64748B"/>
                </a:solidFill>
              </a:defRPr>
            </a:pPr>
            <a:r>
              <a:t>• Public video surveillance violates EU GDPR (Art. 5 &amp; 6) and German BDSG.</a:t>
            </a:r>
            <a:br/>
            <a:r>
              <a:t>• Cloud cameras capture faces, children, and pedestrians without consent.</a:t>
            </a:r>
            <a:br/>
            <a:r>
              <a:t>• Passive cameras only record evidence after the violator has already walked away.</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EU General Data Protection Regulation (GDPR) Art. 5(1)(c) 'Data Minimisation'; German Federal Data Protection Act (BDSG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4 of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SOLUTION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Dual-Zone Detection: Sees the Ground, Checks the Bin, Speaks Up.</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STEP 1: GROUND DEBOUNCE</a:t>
            </a:r>
          </a:p>
          <a:p>
            <a:pPr>
              <a:spcBef>
                <a:spcPts val="300"/>
              </a:spcBef>
              <a:defRPr sz="1550" b="1">
                <a:solidFill>
                  <a:srgbClr val="0F172A"/>
                </a:solidFill>
              </a:defRPr>
            </a:pPr>
            <a:r>
              <a:t>Ultrasonic Pavement Radar</a:t>
            </a:r>
          </a:p>
          <a:p>
            <a:pPr>
              <a:spcBef>
                <a:spcPts val="600"/>
              </a:spcBef>
              <a:defRPr sz="1150">
                <a:solidFill>
                  <a:srgbClr val="64748B"/>
                </a:solidFill>
              </a:defRPr>
            </a:pPr>
            <a:r>
              <a:t>JSN-SR04T waterproof sensor monitors 0.8m ground radius. 8-second debounce timer ignores passing pedestrians. 100% false-alarm proof.</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STEP 2: 220ms EDGE-AI</a:t>
            </a:r>
          </a:p>
          <a:p>
            <a:pPr>
              <a:spcBef>
                <a:spcPts val="300"/>
              </a:spcBef>
              <a:defRPr sz="1550" b="1">
                <a:solidFill>
                  <a:srgbClr val="0F172A"/>
                </a:solidFill>
              </a:defRPr>
            </a:pPr>
            <a:r>
              <a:t>On-Chip Privacy Vision</a:t>
            </a:r>
          </a:p>
          <a:p>
            <a:pPr>
              <a:spcBef>
                <a:spcPts val="600"/>
              </a:spcBef>
              <a:defRPr sz="1150">
                <a:solidFill>
                  <a:srgbClr val="64748B"/>
                </a:solidFill>
              </a:defRPr>
            </a:pPr>
            <a:r>
              <a:t>ESP32-S3 neural network runs in 220ms. Verifies trash bags &amp; boxes. Photo erased from RAM immediately—0% cloud photo 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STEP 3: ACTIVE DETERRENT</a:t>
            </a:r>
          </a:p>
          <a:p>
            <a:pPr>
              <a:spcBef>
                <a:spcPts val="300"/>
              </a:spcBef>
              <a:defRPr sz="1550" b="1">
                <a:solidFill>
                  <a:srgbClr val="0F172A"/>
                </a:solidFill>
              </a:defRPr>
            </a:pPr>
            <a:r>
              <a:t>Voice Prompt + Escalation</a:t>
            </a:r>
          </a:p>
          <a:p>
            <a:pPr>
              <a:spcBef>
                <a:spcPts val="600"/>
              </a:spcBef>
              <a:defRPr sz="1150">
                <a:solidFill>
                  <a:srgbClr val="64748B"/>
                </a:solidFill>
              </a:defRPr>
            </a:pPr>
            <a:r>
              <a:t>Checks bin fill level. If space remains, 3W speaker speaks: 'Bitte den Müll hineinwerfen!' Over 60% of citizens self-correct immediately.</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Keep Britain Tidy 'Talking Bins' behavioral nudging trial (60%+ compliance); Cialdini (2007) auditory social prompts in public spaces.</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5 of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PRODUCTION HARDWARE  |  0:40 - 0:48</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Weatherproof IP67 Architecture &amp; Perpetual Solar Autonomy.</a:t>
            </a:r>
          </a:p>
        </p:txBody>
      </p:sp>
      <p:pic>
        <p:nvPicPr>
          <p:cNvPr id="4" name="Picture 3" descr="daneben_iot_exploded_assembly_render_1792599769801.jpg"/>
          <p:cNvPicPr>
            <a:picLocks noChangeAspect="1"/>
          </p:cNvPicPr>
          <p:nvPr/>
        </p:nvPicPr>
        <p:blipFill>
          <a:blip r:embed="rId2"/>
          <a:stretch>
            <a:fillRect/>
          </a:stretch>
        </p:blipFill>
        <p:spPr>
          <a:xfrm>
            <a:off x="2986430" y="1572768"/>
            <a:ext cx="6217920" cy="4642714"/>
          </a:xfrm>
          <a:prstGeom prst="rect">
            <a:avLst/>
          </a:prstGeom>
        </p:spPr>
      </p:pic>
      <p:sp>
        <p:nvSpPr>
          <p:cNvPr id="5" name="Rounded Rectangle 4"/>
          <p:cNvSpPr/>
          <p:nvPr/>
        </p:nvSpPr>
        <p:spPr>
          <a:xfrm>
            <a:off x="594360" y="160020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1.5W Solar Roof (20° Angle)</a:t>
            </a:r>
          </a:p>
          <a:p>
            <a:pPr>
              <a:spcBef>
                <a:spcPts val="200"/>
              </a:spcBef>
              <a:defRPr sz="950">
                <a:solidFill>
                  <a:srgbClr val="64748B"/>
                </a:solidFill>
                <a:latin typeface="Segoe UI"/>
              </a:defRPr>
            </a:pPr>
            <a:r>
              <a:t>Self-cleaning sloped lid with CN3791 MPPT</a:t>
            </a:r>
          </a:p>
        </p:txBody>
      </p:sp>
      <p:cxnSp>
        <p:nvCxnSpPr>
          <p:cNvPr id="6" name="Connector 5"/>
          <p:cNvCxnSpPr/>
          <p:nvPr/>
        </p:nvCxnSpPr>
        <p:spPr>
          <a:xfrm>
            <a:off x="2880360" y="1988820"/>
            <a:ext cx="2904134" cy="620199"/>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9630" y="255415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69748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Silicone Sealing Ring</a:t>
            </a:r>
          </a:p>
          <a:p>
            <a:pPr>
              <a:spcBef>
                <a:spcPts val="200"/>
              </a:spcBef>
              <a:defRPr sz="950">
                <a:solidFill>
                  <a:srgbClr val="64748B"/>
                </a:solidFill>
                <a:latin typeface="Segoe UI"/>
              </a:defRPr>
            </a:pPr>
            <a:r>
              <a:t>IP67 weatherproof O-ring perimeter gasket</a:t>
            </a:r>
          </a:p>
        </p:txBody>
      </p:sp>
      <p:cxnSp>
        <p:nvCxnSpPr>
          <p:cNvPr id="9" name="Connector 8"/>
          <p:cNvCxnSpPr/>
          <p:nvPr/>
        </p:nvCxnSpPr>
        <p:spPr>
          <a:xfrm>
            <a:off x="2880360" y="3086100"/>
            <a:ext cx="2308250" cy="48145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133746" y="3512689"/>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79476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XIAO ESP32-S3 Sense</a:t>
            </a:r>
          </a:p>
          <a:p>
            <a:pPr>
              <a:spcBef>
                <a:spcPts val="200"/>
              </a:spcBef>
              <a:defRPr sz="950">
                <a:solidFill>
                  <a:srgbClr val="64748B"/>
                </a:solidFill>
                <a:latin typeface="Segoe UI"/>
              </a:defRPr>
            </a:pPr>
            <a:r>
              <a:t>Dual-core 240MHz, 8MB PSRAM Edge AI</a:t>
            </a:r>
          </a:p>
        </p:txBody>
      </p:sp>
      <p:cxnSp>
        <p:nvCxnSpPr>
          <p:cNvPr id="12" name="Connector 11"/>
          <p:cNvCxnSpPr/>
          <p:nvPr/>
        </p:nvCxnSpPr>
        <p:spPr>
          <a:xfrm flipV="1">
            <a:off x="2880360" y="3956147"/>
            <a:ext cx="2696870" cy="22723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522366" y="3901283"/>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4360" y="489204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18650 Li-Ion Battery (3400mAh)</a:t>
            </a:r>
          </a:p>
          <a:p>
            <a:pPr>
              <a:spcBef>
                <a:spcPts val="200"/>
              </a:spcBef>
              <a:defRPr sz="950">
                <a:solidFill>
                  <a:srgbClr val="64748B"/>
                </a:solidFill>
                <a:latin typeface="Segoe UI"/>
              </a:defRPr>
            </a:pPr>
            <a:r>
              <a:t>Isolated screw-cap tube; 35 days dark runtime</a:t>
            </a:r>
          </a:p>
        </p:txBody>
      </p:sp>
      <p:cxnSp>
        <p:nvCxnSpPr>
          <p:cNvPr id="15" name="Connector 14"/>
          <p:cNvCxnSpPr/>
          <p:nvPr/>
        </p:nvCxnSpPr>
        <p:spPr>
          <a:xfrm flipV="1">
            <a:off x="2880360" y="4992399"/>
            <a:ext cx="2645053" cy="288261"/>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70549" y="493753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81160" y="2148840"/>
            <a:ext cx="2286000" cy="841248"/>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OV2640 Camera Lens</a:t>
            </a:r>
          </a:p>
          <a:p>
            <a:pPr>
              <a:spcBef>
                <a:spcPts val="200"/>
              </a:spcBef>
              <a:defRPr sz="950">
                <a:solidFill>
                  <a:srgbClr val="64748B"/>
                </a:solidFill>
                <a:latin typeface="Segoe UI"/>
              </a:defRPr>
            </a:pPr>
            <a:r>
              <a:t>45° downward angle (0.8m pavement only, GDPR-safe)</a:t>
            </a:r>
          </a:p>
        </p:txBody>
      </p:sp>
      <p:cxnSp>
        <p:nvCxnSpPr>
          <p:cNvPr id="18" name="Connector 17"/>
          <p:cNvCxnSpPr/>
          <p:nvPr/>
        </p:nvCxnSpPr>
        <p:spPr>
          <a:xfrm flipH="1">
            <a:off x="6727545" y="2569464"/>
            <a:ext cx="2553615" cy="1568027"/>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2681" y="4082627"/>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81160" y="356616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Ultrasonic Sensor Port</a:t>
            </a:r>
          </a:p>
          <a:p>
            <a:pPr>
              <a:spcBef>
                <a:spcPts val="200"/>
              </a:spcBef>
              <a:defRPr sz="950">
                <a:solidFill>
                  <a:srgbClr val="64748B"/>
                </a:solidFill>
                <a:latin typeface="Segoe UI"/>
              </a:defRPr>
            </a:pPr>
            <a:r>
              <a:t>Precision circular port for JSN-SR04T radar</a:t>
            </a:r>
          </a:p>
        </p:txBody>
      </p:sp>
      <p:cxnSp>
        <p:nvCxnSpPr>
          <p:cNvPr id="21" name="Connector 20"/>
          <p:cNvCxnSpPr/>
          <p:nvPr/>
        </p:nvCxnSpPr>
        <p:spPr>
          <a:xfrm flipH="1">
            <a:off x="7131710" y="3968496"/>
            <a:ext cx="2149450" cy="97209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76846" y="488572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480060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Acoustic Speaker Grille</a:t>
            </a:r>
          </a:p>
          <a:p>
            <a:pPr>
              <a:spcBef>
                <a:spcPts val="200"/>
              </a:spcBef>
              <a:defRPr sz="950">
                <a:solidFill>
                  <a:srgbClr val="64748B"/>
                </a:solidFill>
                <a:latin typeface="Segoe UI"/>
              </a:defRPr>
            </a:pPr>
            <a:r>
              <a:t>3W voice prompt aperture with Gore-Tex vent</a:t>
            </a:r>
          </a:p>
        </p:txBody>
      </p:sp>
      <p:cxnSp>
        <p:nvCxnSpPr>
          <p:cNvPr id="24" name="Connector 23"/>
          <p:cNvCxnSpPr/>
          <p:nvPr/>
        </p:nvCxnSpPr>
        <p:spPr>
          <a:xfrm flipH="1">
            <a:off x="6665366" y="5202936"/>
            <a:ext cx="2615794" cy="2262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10502" y="517069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BOM &amp; hardware qualification verified via BerryBase/Mouser industrial component datasheets; IP67 test procedures.</a:t>
            </a:r>
          </a:p>
        </p:txBody>
      </p:sp>
      <p:sp>
        <p:nvSpPr>
          <p:cNvPr id="27" name="TextBox 2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6 of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MUNICIPAL IMPACT  |  0:48 - 0:54</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City ROI: Stopping Side-Trash &amp; Cutting Wasted Truck Routes.</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WITHOUT DANEBEN!  (STATUS QUO)</a:t>
            </a:r>
          </a:p>
          <a:p>
            <a:pPr>
              <a:spcBef>
                <a:spcPts val="400"/>
              </a:spcBef>
              <a:defRPr sz="1150">
                <a:solidFill>
                  <a:srgbClr val="0F172A"/>
                </a:solidFill>
              </a:defRPr>
            </a:pPr>
            <a:r>
              <a:t>• Half-empty bins blocked by bags on the pavement; copycat dumping accelerates.</a:t>
            </a:r>
            <a:br/>
            <a:r>
              <a:t>• Fleets drive rigid calendars, stopping at empty bins and missing problem spots.</a:t>
            </a:r>
            <a:br/>
            <a:r>
              <a:t>• Expensive emergency clean-up vans dispatched reactively via citizen complaints.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WITH DANEBEN!  (ACTIVE PREVENTION &amp; SMART DISPATCH)</a:t>
            </a:r>
          </a:p>
          <a:p>
            <a:pPr>
              <a:spcBef>
                <a:spcPts val="400"/>
              </a:spcBef>
              <a:defRPr sz="1150">
                <a:solidFill>
                  <a:srgbClr val="0F172A"/>
                </a:solidFill>
              </a:defRPr>
            </a:pPr>
            <a:r>
              <a:t>• 60%+ of citizens immediately self-correct and put their trash inside the bin.</a:t>
            </a:r>
            <a:br/>
            <a:r>
              <a:t>• Ground remains clean; bins are utilized to their full 100% capacity.</a:t>
            </a:r>
            <a:br/>
            <a:r>
              <a:t>• Sanitation trucks dispatched dynamically only to verified full bins or persistent dumps.</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Less Side-Dumping</a:t>
            </a:r>
          </a:p>
          <a:p>
            <a:pPr>
              <a:spcBef>
                <a:spcPts val="400"/>
              </a:spcBef>
              <a:defRPr sz="1150">
                <a:solidFill>
                  <a:srgbClr val="64748B"/>
                </a:solidFill>
              </a:defRPr>
            </a:pPr>
            <a:r>
              <a:t>Measured reduction in cardboard and bag dumping at glass/textile recycling depots.</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Fewer Truck Stops</a:t>
            </a:r>
          </a:p>
          <a:p>
            <a:pPr>
              <a:spcBef>
                <a:spcPts val="400"/>
              </a:spcBef>
              <a:defRPr sz="1150">
                <a:solidFill>
                  <a:srgbClr val="64748B"/>
                </a:solidFill>
              </a:defRPr>
            </a:pPr>
            <a:r>
              <a:t>Dynamic route scheduling eliminates unnecessary visits to half-empty containers.</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Days</a:t>
            </a:r>
          </a:p>
          <a:p>
            <a:pPr>
              <a:spcBef>
                <a:spcPts val="200"/>
              </a:spcBef>
              <a:defRPr sz="1550" b="1">
                <a:solidFill>
                  <a:srgbClr val="0F172A"/>
                </a:solidFill>
              </a:defRPr>
            </a:pPr>
            <a:r>
              <a:t>Payback Period</a:t>
            </a:r>
          </a:p>
          <a:p>
            <a:pPr>
              <a:spcBef>
                <a:spcPts val="400"/>
              </a:spcBef>
              <a:defRPr sz="1150">
                <a:solidFill>
                  <a:srgbClr val="64748B"/>
                </a:solidFill>
              </a:defRPr>
            </a:pPr>
            <a:r>
              <a:t>Avoiding just 3 to 4 manual €45 cleanup patrol stops recovers the entire €149 unit cost.</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Payback math: €149 device / (€45 savings per eliminated stop × 3.5 stops/month) = 0.95 months; 30% route efficiency via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7 of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BUSINESS CASE  |  0:54 - 1:00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€27 Production Cost. High-Margin Smart-City Cloud Service.</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10B981"/>
                </a:solidFill>
                <a:latin typeface="Segoe UI"/>
              </a:defRPr>
            </a:pPr>
            <a:r>
              <a:t>€27 BOM</a:t>
            </a:r>
          </a:p>
          <a:p>
            <a:pPr>
              <a:spcBef>
                <a:spcPts val="800"/>
              </a:spcBef>
              <a:defRPr sz="1750" b="1">
                <a:solidFill>
                  <a:srgbClr val="0F172A"/>
                </a:solidFill>
              </a:defRPr>
            </a:pPr>
            <a:r>
              <a:t>Low Manufacturing Cost + Recurring Fleet Software</a:t>
            </a:r>
          </a:p>
          <a:p>
            <a:pPr>
              <a:spcBef>
                <a:spcPts val="800"/>
              </a:spcBef>
              <a:defRPr sz="1250">
                <a:solidFill>
                  <a:srgbClr val="64748B"/>
                </a:solidFill>
              </a:defRPr>
            </a:pPr>
            <a:r>
              <a:t>• €27.00 Manufacturing Cost: Volume BOM for electronics, solar, and IP67 casing.</a:t>
            </a:r>
          </a:p>
          <a:p>
            <a:pPr>
              <a:spcBef>
                <a:spcPts val="600"/>
              </a:spcBef>
              <a:defRPr sz="1250">
                <a:solidFill>
                  <a:srgbClr val="64748B"/>
                </a:solidFill>
              </a:defRPr>
            </a:pPr>
            <a:r>
              <a:t>• €149 Device Purchase Price: 81.9% gross hardware margin (€122 margin/unit).</a:t>
            </a:r>
          </a:p>
          <a:p>
            <a:pPr>
              <a:spcBef>
                <a:spcPts val="600"/>
              </a:spcBef>
              <a:defRPr sz="1250">
                <a:solidFill>
                  <a:srgbClr val="64748B"/>
                </a:solidFill>
              </a:defRPr>
            </a:pPr>
            <a:r>
              <a:t>• €4.00 / bin / month Cloud Service (SaaS): Live city map &amp; automated truck routes.</a:t>
            </a:r>
          </a:p>
          <a:p>
            <a:pPr>
              <a:spcBef>
                <a:spcPts val="800"/>
              </a:spcBef>
              <a:defRPr sz="1250" b="1">
                <a:solidFill>
                  <a:srgbClr val="0F172A"/>
                </a:solidFill>
              </a:defRPr>
            </a:pPr>
            <a:r>
              <a:t>• Scale Impact: 5,000 bins in one city = €745,000 hardware + €240,000 yearly revenue.</a:t>
            </a:r>
          </a:p>
        </p:txBody>
      </p:sp>
      <p:sp>
        <p:nvSpPr>
          <p:cNvPr id="5" name="Rounded Rectangle 4"/>
          <p:cNvSpPr/>
          <p:nvPr/>
        </p:nvSpPr>
        <p:spPr>
          <a:xfrm>
            <a:off x="6217920" y="1737360"/>
            <a:ext cx="5212080" cy="4297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0F172A"/>
                </a:solidFill>
                <a:latin typeface="Segoe UI"/>
              </a:defRPr>
            </a:pPr>
            <a:r>
              <a:t>Pilot Ready</a:t>
            </a:r>
          </a:p>
          <a:p>
            <a:pPr>
              <a:spcBef>
                <a:spcPts val="800"/>
              </a:spcBef>
              <a:defRPr sz="1750" b="1">
                <a:solidFill>
                  <a:srgbClr val="0F172A"/>
                </a:solidFill>
              </a:defRPr>
            </a:pPr>
            <a:r>
              <a:t>Next Step: 50-Bin Municipal Pilot in NRW</a:t>
            </a:r>
          </a:p>
          <a:p>
            <a:pPr>
              <a:spcBef>
                <a:spcPts val="800"/>
              </a:spcBef>
              <a:defRPr sz="1250">
                <a:solidFill>
                  <a:srgbClr val="64748B"/>
                </a:solidFill>
              </a:defRPr>
            </a:pPr>
            <a:r>
              <a:t>• Working Hardware &amp; Firmware: ESP32-S3 AI code and dual sensors validated.</a:t>
            </a:r>
          </a:p>
          <a:p>
            <a:pPr>
              <a:spcBef>
                <a:spcPts val="600"/>
              </a:spcBef>
              <a:defRPr sz="1250">
                <a:solidFill>
                  <a:srgbClr val="64748B"/>
                </a:solidFill>
              </a:defRPr>
            </a:pPr>
            <a:r>
              <a:t>• Industrial IP67 Tooling: Parametric 3D CAD enclosure complete and tested.</a:t>
            </a:r>
          </a:p>
          <a:p>
            <a:pPr>
              <a:spcBef>
                <a:spcPts val="600"/>
              </a:spcBef>
              <a:defRPr sz="1250">
                <a:solidFill>
                  <a:srgbClr val="64748B"/>
                </a:solidFill>
              </a:defRPr>
            </a:pPr>
            <a:r>
              <a:t>• Zero Legal Risk: 100% GDPR-compliant design for public municipal deployment.</a:t>
            </a:r>
          </a:p>
          <a:p>
            <a:pPr>
              <a:spcBef>
                <a:spcPts val="1200"/>
              </a:spcBef>
              <a:defRPr sz="1350" b="1">
                <a:solidFill>
                  <a:srgbClr val="10B981"/>
                </a:solidFill>
              </a:defRPr>
            </a:pPr>
            <a:r>
              <a:t>Let's launch our pilot today: Trash belongs in the bin, never 'Daneben!'</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BOM calculated at 1,000 unit batch scale from German component distributors; SaaS pricing benchmarked against smart-city IoT contracts.</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8 of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